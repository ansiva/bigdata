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66" r:id="rId3"/>
    <p:sldId id="267" r:id="rId4"/>
    <p:sldId id="258" r:id="rId5"/>
    <p:sldId id="268" r:id="rId6"/>
    <p:sldId id="272" r:id="rId7"/>
    <p:sldId id="269" r:id="rId8"/>
    <p:sldId id="270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71" r:id="rId17"/>
    <p:sldId id="280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56082"/>
    <a:srgbClr val="00B050"/>
    <a:srgbClr val="DCEAF7"/>
    <a:srgbClr val="D9F2D0"/>
    <a:srgbClr val="4E95D9"/>
    <a:srgbClr val="A6A6A6"/>
    <a:srgbClr val="F2F7FC"/>
    <a:srgbClr val="FFD5D5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94116595035616"/>
          <c:y val="5.5788772845486952E-2"/>
          <c:w val="0.8605883404964384"/>
          <c:h val="0.888422454309026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Frequent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F2D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761-4E3E-8EC8-E6DEB658C93A}"/>
              </c:ext>
            </c:extLst>
          </c:dPt>
          <c:dLbls>
            <c:dLbl>
              <c:idx val="0"/>
              <c:layout>
                <c:manualLayout>
                  <c:x val="1.5578740874496801E-7"/>
                  <c:y val="1.8135376300133337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/>
                      <a:t>29.0%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06183264568768"/>
                      <c:h val="0.14608045609757403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3761-4E3E-8EC8-E6DEB658C9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Share of customers at risk</c:v>
                </c:pt>
              </c:strCache>
            </c:strRef>
          </c:cat>
          <c:val>
            <c:numRef>
              <c:f>Tabelle1!$B$2</c:f>
              <c:numCache>
                <c:formatCode>0%</c:formatCode>
                <c:ptCount val="1"/>
                <c:pt idx="0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61-4E3E-8EC8-E6DEB658C93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Regular</c:v>
                </c:pt>
              </c:strCache>
            </c:strRef>
          </c:tx>
          <c:spPr>
            <a:solidFill>
              <a:srgbClr val="A6CAEC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4.080459667530000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/>
                      <a:t>~26.4%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031983155019066"/>
                      <c:h val="0.14608045609757403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6-3761-4E3E-8EC8-E6DEB658C9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Share of customers at risk</c:v>
                </c:pt>
              </c:strCache>
            </c:strRef>
          </c:cat>
          <c:val>
            <c:numRef>
              <c:f>Tabelle1!$C$2</c:f>
              <c:numCache>
                <c:formatCode>0%</c:formatCode>
                <c:ptCount val="1"/>
                <c:pt idx="0">
                  <c:v>0.26400000000000001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61-4E3E-8EC8-E6DEB658C93A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Infrequent</c:v>
                </c:pt>
              </c:strCache>
            </c:strRef>
          </c:tx>
          <c:spPr>
            <a:solidFill>
              <a:srgbClr val="FFD5D5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 dirty="0"/>
                      <a:t>8.1%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761-4E3E-8EC8-E6DEB658C9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Share of customers at risk</c:v>
                </c:pt>
              </c:strCache>
            </c:strRef>
          </c:cat>
          <c:val>
            <c:numRef>
              <c:f>Tabelle1!$D$2</c:f>
              <c:numCache>
                <c:formatCode>0%</c:formatCode>
                <c:ptCount val="1"/>
                <c:pt idx="0">
                  <c:v>8.1000000000000003E-2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61-4E3E-8EC8-E6DEB658C9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394844335"/>
        <c:axId val="343461551"/>
      </c:barChart>
      <c:catAx>
        <c:axId val="3948443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43461551"/>
        <c:crosses val="autoZero"/>
        <c:auto val="1"/>
        <c:lblAlgn val="ctr"/>
        <c:lblOffset val="100"/>
        <c:noMultiLvlLbl val="0"/>
      </c:catAx>
      <c:valAx>
        <c:axId val="343461551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94844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15.6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5BD-453A-8630-EEC4DFB073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Average days between orders 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BD-453A-8630-EEC4DFB0735D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="1" dirty="0"/>
                      <a:t>14.8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5BD-453A-8630-EEC4DFB073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Average days between orders 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14.8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BD-453A-8630-EEC4DFB0735D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="1" dirty="0"/>
                      <a:t>15.6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5BD-453A-8630-EEC4DFB073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Average days between orders 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BD-453A-8630-EEC4DFB073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394829023"/>
        <c:axId val="343449071"/>
      </c:barChart>
      <c:catAx>
        <c:axId val="3948290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43449071"/>
        <c:crosses val="autoZero"/>
        <c:auto val="1"/>
        <c:lblAlgn val="ctr"/>
        <c:lblOffset val="100"/>
        <c:noMultiLvlLbl val="0"/>
      </c:catAx>
      <c:valAx>
        <c:axId val="343449071"/>
        <c:scaling>
          <c:orientation val="minMax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94829023"/>
        <c:crosses val="autoZero"/>
        <c:crossBetween val="between"/>
        <c:minorUnit val="2.0000000000000004E-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D287E-8970-42B2-845A-EE3F6196E7BB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DD4B3-217C-41AE-A412-B1E3ED5ABB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660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a0ad0a388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a0ad0a388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043E-E02D-099C-D981-E3DCEEC3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D6AA07-1662-036E-47A4-D28775E87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989DE8E-CD43-BC92-FECF-2E9A1E522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C13EDD-9EE1-FFCB-4D57-123081A18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622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CB26-A05E-3B5B-F2AB-843C54BB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42BA00D-A30D-1E0E-5A65-F8CBD219F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1228DC-F6B8-D3C5-1302-026E31AE1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615AB1-BDB3-E8C6-C28C-F8A7BECF3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092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4137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42CA-D756-BDA7-D5FF-69B40E5F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B0976A4-6B03-6EC7-70D0-8F9F7BD0A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F06E100-7B38-204C-87AB-00960C001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2B188E-254D-4AE3-205B-9676821EF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2950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F3CBE-FF85-F7A2-D4AB-3C895728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44E291A-5C44-BB21-11AD-1E9D10712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C00F5A-34AE-62D5-138F-E92FB73C0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CF65BA-1BB8-AE02-7EB5-85E5554B1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842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C9DF6-5C48-3C8F-5A82-AF3D17E1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3DD6BD-E852-3D67-7E80-93D4ABB71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5CAA328-D65C-10D4-2AEA-C444140B5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44FC48-3668-5AE5-A66C-9C65FAE1E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0343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21935-4F5F-55D1-2AB8-F7EA6A8C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F3A91A6-5752-B729-84C2-2E04E2B26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7ABE5C-A974-F360-0A65-29D0E0F6E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180344-D56C-5093-A1DC-054B277A7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325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6265-3702-2F0E-FFF6-F919D0750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C8D010-63E3-4E10-A2E7-765F40233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A419FA-CE31-AF8C-A289-014F61498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3A94EA-39E0-4DE1-DA09-63CD23326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0774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18C01-0A99-1586-A7E5-0ACDF07B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8717CE-E804-3EBD-D240-1DE4812E5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2B8C3C3-EC7B-3867-1BA3-C7953DC43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D2F6B9-EC40-0250-AC8C-5541C61FB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4475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32B9-6CF8-4047-A7FF-13CD37ADE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CC40DF6-21E2-D15C-093D-AAB2DDC95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37B7779-7E43-F6B2-EC84-9E6E91AA3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298802-B474-4B37-55E3-0569E4145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390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A71F-1BFB-1BD6-BBC2-C0951D5A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A9E3305-BC1D-8DA0-C996-7FAA106FD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642A1A6-DA32-1461-B0DD-1EE8D7A07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1C7D23-447D-6C48-E1C8-2A6CB7149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839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C5348-F938-381B-1DE5-49703E3CE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981EE26-2590-60C8-D1A5-70687FE62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7822A25-53D6-7BDF-39D5-097F2E564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CB4440-36DF-D34B-A2AE-3FCFF7F99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8516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54882-290A-3DDF-5C26-52B02CB4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45ECA5B-777E-62EE-D4E7-0B22DEBA8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62EB98-E3D1-34B8-1B93-7D2CC3256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DA8885-897C-002F-5649-AD788479D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70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383F-021A-E0FA-CDF7-DFF4A96C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9E54C17-7701-6747-7D1C-D1E759425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ED4E12F-77FB-B126-B9CC-ABCCC7CD6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7AEFBB-20C2-ED8B-76E5-67E277E18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9749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9870-8833-742D-633C-C1427192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E1E79C8-2BA7-136B-029A-AD0744495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3F470F-D773-E08E-4367-3C8576DA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6BA374-8A65-34BB-AE95-7CAFCD19E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0391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70D1-99AD-907E-523C-2D82752D6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AA6F558-F17F-12D1-A459-F31470C64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83FB017-CAB5-86EE-5793-85D7C0A74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CB4056-A9AE-8016-E7D1-207D4CD74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0DD4B3-217C-41AE-A412-B1E3ED5ABB57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1600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4BF76-0975-C659-0A2F-9F5B8040D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0D258F-138C-0999-281C-ABD06AB12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3EF12E-E0B9-7663-C9A6-415A34CBE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92FABC-3264-6BD7-230B-F20DDE95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26ED4C-30F3-E2B4-B99D-970302A0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6048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49396-F78F-C4B0-F972-BB759E94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560E4-2B72-8C42-3B1D-4ABEF802F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5A589F-AA47-7FB4-90C9-554F3C22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F6222F-EE9C-5005-46BC-9663A2B1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086699-7E5E-1140-44F0-043ABA344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457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6F939-99EF-96FA-A27C-36E5C940F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5D1948-A9CC-9396-A64B-F5A02C899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DDA335-904F-88D2-3791-97659BB77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A053B2-C31D-BD17-D732-8DFBE49E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1AC0DC-76D8-7741-A2E8-24552DA6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782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D8EAEE-661A-119E-1852-D2B8D23B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7DC4C-36DA-AC90-7F1E-0F38C7D2A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1613E9-219E-10E4-DA14-A4070847C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31E782-099A-166E-E51A-CB74A4E0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F5911C-66E2-DDFF-771E-EBA0BD7F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23D222-9D10-F94C-1D41-589A5F09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1752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328C83-6225-1AD9-E9F9-DE5E17CC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A0433-D271-66D2-D974-BD794BBCF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13C4E4-833B-9506-8552-D85D8FBC1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173CBF9-4EC0-D6C8-809A-01653A09A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C9CC32A-EE9C-6D88-C439-6FF03E9D1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BC6362A-591E-77DC-D9D5-F804855A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583F302-7BF5-5463-5150-BC476655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A218EE7-A96F-74B8-48E7-22CC108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9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4CD003-5F2C-C5B6-1404-50447E18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2770B1-D27D-EB0D-96D6-A93CCAB1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1C9963-68BB-6C29-31A9-4FE80575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CFF472-516B-1EFA-6A50-75963AFA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27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1379DF3-C1AB-0AD8-9E2C-F6DE10F0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4E6D438-D25B-DB66-0CD2-B42503DB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E5FA69-6E61-A0FF-56F6-7CC47933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50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565F9-6421-4CF1-2CE3-A274C03D7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247C98-48F8-81C9-015B-EC361BCF0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12AFCB-9159-9147-7BAB-47445689F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30634F-17E3-5802-420C-18AC18E9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26FE02-307E-1C5D-1F3C-A490B6AB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2C00AD-9DE5-45A3-21E4-BF7461F1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2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7BDFF8-B23A-586F-32A0-9A69F521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C3D35A3-D70E-66C4-85B2-C86828788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1624AC-E60A-502A-1A98-05D865B36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4C1D5E-4D7E-9963-1C20-B0B52AD8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2A41E7-6FE2-592A-ACE5-36AE8CAD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D9F8BA-CA45-D980-6394-794680AC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25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2EB4A-2011-4CE9-94E4-17F8EF84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198835E-12CE-0701-9C2D-7C9A2696A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1FB946-BF63-700C-9FFB-39ACA7FF2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513241-5C1A-8773-B642-B4E48F899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F583F9-29BD-4D30-8A4A-8024CEBF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456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6D16149-9F84-4CC5-3359-1EDDCE397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E3D516-A231-2B17-B075-29D9753C6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AAD2DC-E075-1101-3CE4-D42EA5230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E1A090-6EB7-82D4-85EA-898FDB70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7B237C-7C6C-90C5-D923-BBED9F8D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611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40E80D-E668-70E5-80D7-D255E7C85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A4BA11-C54C-DE83-D299-76F3246E1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E2B905-EF30-C8E4-7A32-C6980C57F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4F7DC-1031-47CF-BDD7-702A85379B8E}" type="datetimeFigureOut">
              <a:rPr lang="de-DE" smtClean="0"/>
              <a:t>20.09.2026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1D8331-B395-BDD2-DA55-729772418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7A33AA-2C2B-47FB-70C4-8F452A666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DB1F3-7908-4097-9C1C-E45863DEBF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64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4.svg"/><Relationship Id="rId7" Type="http://schemas.openxmlformats.org/officeDocument/2006/relationships/image" Target="../media/image13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svg"/><Relationship Id="rId11" Type="http://schemas.openxmlformats.org/officeDocument/2006/relationships/image" Target="../media/image16.svg"/><Relationship Id="rId5" Type="http://schemas.openxmlformats.org/officeDocument/2006/relationships/image" Target="../media/image4.svg"/><Relationship Id="rId10" Type="http://schemas.openxmlformats.org/officeDocument/2006/relationships/image" Target="../media/image8.svg"/><Relationship Id="rId4" Type="http://schemas.openxmlformats.org/officeDocument/2006/relationships/image" Target="../media/image15.sv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2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ssdiagramm: Verbinder zu einer anderen Seite 3">
            <a:extLst>
              <a:ext uri="{FF2B5EF4-FFF2-40B4-BE49-F238E27FC236}">
                <a16:creationId xmlns:a16="http://schemas.microsoft.com/office/drawing/2014/main" id="{C3057BB2-AEA2-2FEB-72D4-852464AFED42}"/>
              </a:ext>
            </a:extLst>
          </p:cNvPr>
          <p:cNvSpPr>
            <a:spLocks noChangeAspect="1"/>
          </p:cNvSpPr>
          <p:nvPr/>
        </p:nvSpPr>
        <p:spPr>
          <a:xfrm rot="16200000">
            <a:off x="-346839" y="346836"/>
            <a:ext cx="6857999" cy="6164318"/>
          </a:xfrm>
          <a:prstGeom prst="flowChartOffpageConnector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de-DE" sz="2400" b="1" dirty="0"/>
          </a:p>
          <a:p>
            <a:pPr algn="ctr"/>
            <a:endParaRPr lang="de-DE" sz="2400" b="1" dirty="0"/>
          </a:p>
          <a:p>
            <a:pPr algn="ctr"/>
            <a:r>
              <a:rPr lang="de-DE" sz="2400" b="1" dirty="0"/>
              <a:t>Capstone Project</a:t>
            </a:r>
          </a:p>
          <a:p>
            <a:pPr algn="ctr"/>
            <a:r>
              <a:rPr lang="de-DE" sz="2400" b="1" dirty="0"/>
              <a:t>Data Architecture</a:t>
            </a:r>
          </a:p>
          <a:p>
            <a:pPr algn="ctr"/>
            <a:endParaRPr lang="de-DE" sz="2400" b="1" dirty="0"/>
          </a:p>
          <a:p>
            <a:pPr algn="ctr"/>
            <a:r>
              <a:rPr lang="de-DE" sz="2400" b="1" dirty="0" err="1"/>
              <a:t>Reorder</a:t>
            </a:r>
            <a:r>
              <a:rPr lang="de-DE" sz="2400" b="1" dirty="0"/>
              <a:t> Cadence &amp; Customer Engagement</a:t>
            </a:r>
          </a:p>
          <a:p>
            <a:pPr algn="ctr"/>
            <a:endParaRPr lang="de-DE" sz="2400" b="1" dirty="0"/>
          </a:p>
          <a:p>
            <a:pPr algn="ctr"/>
            <a:r>
              <a:rPr lang="de-DE" sz="2400" b="1" dirty="0"/>
              <a:t>Team 11 </a:t>
            </a:r>
          </a:p>
          <a:p>
            <a:pPr algn="ctr"/>
            <a:endParaRPr lang="de-DE" sz="2400" b="1" dirty="0"/>
          </a:p>
          <a:p>
            <a:pPr algn="ctr"/>
            <a:r>
              <a:rPr lang="de-DE" b="1" dirty="0" err="1"/>
              <a:t>Anayev</a:t>
            </a:r>
            <a:r>
              <a:rPr lang="de-DE" b="1" dirty="0"/>
              <a:t> Adil  - aa3258</a:t>
            </a:r>
          </a:p>
          <a:p>
            <a:pPr algn="ctr"/>
            <a:r>
              <a:rPr lang="de-DE" b="1" dirty="0"/>
              <a:t>Ziyi Li - zl2399</a:t>
            </a:r>
          </a:p>
          <a:p>
            <a:pPr algn="ctr"/>
            <a:r>
              <a:rPr lang="de-DE" b="1" dirty="0"/>
              <a:t>Renisha Rana - rr853</a:t>
            </a:r>
          </a:p>
          <a:p>
            <a:pPr algn="ctr"/>
            <a:r>
              <a:rPr lang="de-DE" b="1" dirty="0"/>
              <a:t>Elena Sistermann – eks97</a:t>
            </a:r>
          </a:p>
          <a:p>
            <a:pPr algn="ctr"/>
            <a:r>
              <a:rPr lang="de-DE" b="1" dirty="0"/>
              <a:t>Aniruthan Sivakumar – as4647 </a:t>
            </a:r>
          </a:p>
          <a:p>
            <a:pPr algn="ctr"/>
            <a:r>
              <a:rPr lang="de-DE" sz="2400" b="1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7883-235C-0068-42E8-93E5EA0A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7B44748-4BA3-6B6E-09C4-4810A3E0C8BB}"/>
              </a:ext>
            </a:extLst>
          </p:cNvPr>
          <p:cNvSpPr>
            <a:spLocks noGrp="1"/>
          </p:cNvSpPr>
          <p:nvPr/>
        </p:nvSpPr>
        <p:spPr>
          <a:xfrm>
            <a:off x="428625" y="4886325"/>
            <a:ext cx="11334750" cy="1590675"/>
          </a:xfrm>
          <a:prstGeom prst="roundRect">
            <a:avLst>
              <a:gd name="adj" fmla="val 838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54626476-EE89-9E51-D72E-2785E753B54A}"/>
              </a:ext>
            </a:extLst>
          </p:cNvPr>
          <p:cNvSpPr>
            <a:spLocks noGrp="1"/>
          </p:cNvSpPr>
          <p:nvPr/>
        </p:nvSpPr>
        <p:spPr>
          <a:xfrm>
            <a:off x="428625" y="4457701"/>
            <a:ext cx="11334750" cy="374438"/>
          </a:xfrm>
          <a:prstGeom prst="roundRect">
            <a:avLst>
              <a:gd name="adj" fmla="val 838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pPr algn="ctr"/>
            <a:r>
              <a:rPr lang="en-US" b="1" u="sng" dirty="0">
                <a:solidFill>
                  <a:srgbClr val="000000"/>
                </a:solidFill>
                <a:ea typeface="Aptos"/>
                <a:cs typeface="Calibri" panose="020F0502020204030204" pitchFamily="34" charset="0"/>
              </a:rPr>
              <a:t>Illustrative Example of Lower Engagement</a:t>
            </a: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22340-6550-2643-BA44-285D4B1BAB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76550" cy="266700"/>
          </a:xfrm>
          <a:prstGeom prst="rect">
            <a:avLst/>
          </a:prstGeom>
          <a:solidFill>
            <a:srgbClr val="156082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44E266-A44B-F4C6-8387-EB1415667E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Recommendation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918ED2-5C61-8BDB-A325-557D98FF569E}"/>
              </a:ext>
            </a:extLst>
          </p:cNvPr>
          <p:cNvSpPr>
            <a:spLocks noGrp="1"/>
          </p:cNvSpPr>
          <p:nvPr/>
        </p:nvSpPr>
        <p:spPr>
          <a:xfrm>
            <a:off x="409575" y="381000"/>
            <a:ext cx="11372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38100" bIns="0" anchor="ctr">
            <a:no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000000"/>
                </a:solidFill>
                <a:latin typeface="+mj-lt"/>
                <a:ea typeface="Calibri"/>
                <a:cs typeface="Calibri" panose="020F0502020204030204" pitchFamily="34" charset="0"/>
              </a:rPr>
              <a:t>Personalized reminders should target customers whose order gap exceeds their expected cadence</a:t>
            </a:r>
          </a:p>
        </p:txBody>
      </p:sp>
      <p:sp>
        <p:nvSpPr>
          <p:cNvPr id="12" name="Title divider">
            <a:extLst>
              <a:ext uri="{FF2B5EF4-FFF2-40B4-BE49-F238E27FC236}">
                <a16:creationId xmlns:a16="http://schemas.microsoft.com/office/drawing/2014/main" id="{6C7987A5-9672-26F8-D446-809AD33F68B0}"/>
              </a:ext>
            </a:extLst>
          </p:cNvPr>
          <p:cNvSpPr>
            <a:spLocks noGrp="1"/>
          </p:cNvSpPr>
          <p:nvPr/>
        </p:nvSpPr>
        <p:spPr>
          <a:xfrm>
            <a:off x="323850" y="1028700"/>
            <a:ext cx="11534775" cy="12383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57106D-FF2C-383E-BD43-3984A9FA45AF}"/>
              </a:ext>
            </a:extLst>
          </p:cNvPr>
          <p:cNvSpPr>
            <a:spLocks noGrp="1"/>
          </p:cNvSpPr>
          <p:nvPr/>
        </p:nvSpPr>
        <p:spPr>
          <a:xfrm>
            <a:off x="428625" y="1162050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00000"/>
                </a:solidFill>
                <a:ea typeface="Aptos"/>
                <a:cs typeface="Calibri" panose="020F0502020204030204" pitchFamily="34" charset="0"/>
              </a:rPr>
              <a:t>Current problem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773550-861C-F4A8-1ACF-221D7F5C1D56}"/>
              </a:ext>
            </a:extLst>
          </p:cNvPr>
          <p:cNvSpPr>
            <a:spLocks noGrp="1"/>
          </p:cNvSpPr>
          <p:nvPr/>
        </p:nvSpPr>
        <p:spPr>
          <a:xfrm>
            <a:off x="6705600" y="1162050"/>
            <a:ext cx="5000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00000"/>
                </a:solidFill>
                <a:ea typeface="Aptos"/>
                <a:cs typeface="Calibri" panose="020F0502020204030204" pitchFamily="34" charset="0"/>
              </a:rPr>
              <a:t>Recommendation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809B38-5865-E316-F12B-D5643417BE8A}"/>
              </a:ext>
            </a:extLst>
          </p:cNvPr>
          <p:cNvSpPr>
            <a:spLocks noGrp="1"/>
          </p:cNvSpPr>
          <p:nvPr/>
        </p:nvSpPr>
        <p:spPr>
          <a:xfrm>
            <a:off x="6391275" y="1438275"/>
            <a:ext cx="11430" cy="2914650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Problem 1">
            <a:extLst>
              <a:ext uri="{FF2B5EF4-FFF2-40B4-BE49-F238E27FC236}">
                <a16:creationId xmlns:a16="http://schemas.microsoft.com/office/drawing/2014/main" id="{3FCB3D99-A3A3-22BC-4329-0C1B0D490609}"/>
              </a:ext>
            </a:extLst>
          </p:cNvPr>
          <p:cNvSpPr>
            <a:spLocks noGrp="1"/>
          </p:cNvSpPr>
          <p:nvPr/>
        </p:nvSpPr>
        <p:spPr>
          <a:xfrm>
            <a:off x="485775" y="1590675"/>
            <a:ext cx="323850" cy="323850"/>
          </a:xfrm>
          <a:prstGeom prst="ellipse">
            <a:avLst/>
          </a:prstGeom>
          <a:solidFill>
            <a:srgbClr val="156082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00" b="1" dirty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CD5687-26BC-52EA-0774-1F33E27E9F4C}"/>
              </a:ext>
            </a:extLst>
          </p:cNvPr>
          <p:cNvSpPr>
            <a:spLocks noGrp="1"/>
          </p:cNvSpPr>
          <p:nvPr/>
        </p:nvSpPr>
        <p:spPr>
          <a:xfrm>
            <a:off x="942975" y="15716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t">
            <a:no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00000"/>
                </a:solidFill>
                <a:ea typeface="Aptos"/>
                <a:cs typeface="Calibri" panose="020F0502020204030204" pitchFamily="34" charset="0"/>
              </a:rPr>
              <a:t>Customers order at different frequencies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4746AC-FFB9-3F3E-62BA-AA93E62DFCDA}"/>
              </a:ext>
            </a:extLst>
          </p:cNvPr>
          <p:cNvSpPr>
            <a:spLocks noGrp="1"/>
          </p:cNvSpPr>
          <p:nvPr/>
        </p:nvSpPr>
        <p:spPr>
          <a:xfrm>
            <a:off x="942975" y="1847850"/>
            <a:ext cx="52197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t">
            <a:norm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4D4D4D"/>
                </a:solidFill>
                <a:ea typeface="Aptos"/>
                <a:cs typeface="Calibri" panose="020F0502020204030204" pitchFamily="34" charset="0"/>
              </a:rPr>
              <a:t>A 14-day gap may be unusual for a weekly customer but normal for a monthly customer.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2F333B-1456-378B-A66A-CF981E6B2E98}"/>
              </a:ext>
            </a:extLst>
          </p:cNvPr>
          <p:cNvSpPr>
            <a:spLocks noGrp="1"/>
          </p:cNvSpPr>
          <p:nvPr/>
        </p:nvSpPr>
        <p:spPr>
          <a:xfrm>
            <a:off x="942975" y="2390775"/>
            <a:ext cx="52197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Problem 2">
            <a:extLst>
              <a:ext uri="{FF2B5EF4-FFF2-40B4-BE49-F238E27FC236}">
                <a16:creationId xmlns:a16="http://schemas.microsoft.com/office/drawing/2014/main" id="{5786CBF4-892E-1852-05D4-58036C2682E5}"/>
              </a:ext>
            </a:extLst>
          </p:cNvPr>
          <p:cNvSpPr>
            <a:spLocks noGrp="1"/>
          </p:cNvSpPr>
          <p:nvPr/>
        </p:nvSpPr>
        <p:spPr>
          <a:xfrm>
            <a:off x="485775" y="2476500"/>
            <a:ext cx="323850" cy="323850"/>
          </a:xfrm>
          <a:prstGeom prst="ellipse">
            <a:avLst/>
          </a:prstGeom>
          <a:solidFill>
            <a:srgbClr val="156082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E6F110-1600-F61D-B05D-9CECF67417C0}"/>
              </a:ext>
            </a:extLst>
          </p:cNvPr>
          <p:cNvSpPr>
            <a:spLocks noGrp="1"/>
          </p:cNvSpPr>
          <p:nvPr/>
        </p:nvSpPr>
        <p:spPr>
          <a:xfrm>
            <a:off x="942975" y="2457450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t">
            <a:no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00000"/>
                </a:solidFill>
                <a:ea typeface="Aptos"/>
                <a:cs typeface="Calibri" panose="020F0502020204030204" pitchFamily="34" charset="0"/>
              </a:rPr>
              <a:t>A single inactivity threshold can misclassify engagement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4C0D29-DA20-226E-951A-22A3E76199BE}"/>
              </a:ext>
            </a:extLst>
          </p:cNvPr>
          <p:cNvSpPr>
            <a:spLocks noGrp="1"/>
          </p:cNvSpPr>
          <p:nvPr/>
        </p:nvSpPr>
        <p:spPr>
          <a:xfrm>
            <a:off x="942975" y="2733675"/>
            <a:ext cx="52197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t">
            <a:norm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4D4D4D"/>
                </a:solidFill>
                <a:ea typeface="Aptos"/>
                <a:cs typeface="Calibri" panose="020F0502020204030204" pitchFamily="34" charset="0"/>
              </a:rPr>
              <a:t>It may flag naturally infrequent customers while missing frequent customers whose ordering has recently slowed.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0FD125-8B4D-B29A-199F-D047C691DAE1}"/>
              </a:ext>
            </a:extLst>
          </p:cNvPr>
          <p:cNvSpPr>
            <a:spLocks noGrp="1"/>
          </p:cNvSpPr>
          <p:nvPr/>
        </p:nvSpPr>
        <p:spPr>
          <a:xfrm>
            <a:off x="942975" y="3276600"/>
            <a:ext cx="52197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Problem 3">
            <a:extLst>
              <a:ext uri="{FF2B5EF4-FFF2-40B4-BE49-F238E27FC236}">
                <a16:creationId xmlns:a16="http://schemas.microsoft.com/office/drawing/2014/main" id="{CD13615A-659A-5F1C-29D5-5356EA49E44F}"/>
              </a:ext>
            </a:extLst>
          </p:cNvPr>
          <p:cNvSpPr>
            <a:spLocks noGrp="1"/>
          </p:cNvSpPr>
          <p:nvPr/>
        </p:nvSpPr>
        <p:spPr>
          <a:xfrm>
            <a:off x="485775" y="3495675"/>
            <a:ext cx="323850" cy="323850"/>
          </a:xfrm>
          <a:prstGeom prst="ellipse">
            <a:avLst/>
          </a:prstGeom>
          <a:solidFill>
            <a:srgbClr val="156082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577FEA-A5E5-EF11-479A-5A57459F1791}"/>
              </a:ext>
            </a:extLst>
          </p:cNvPr>
          <p:cNvSpPr>
            <a:spLocks noGrp="1"/>
          </p:cNvSpPr>
          <p:nvPr/>
        </p:nvSpPr>
        <p:spPr>
          <a:xfrm>
            <a:off x="942975" y="34766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t">
            <a:no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00" b="1" dirty="0">
                <a:solidFill>
                  <a:srgbClr val="000000"/>
                </a:solidFill>
                <a:ea typeface="Aptos"/>
                <a:cs typeface="Calibri" panose="020F0502020204030204" pitchFamily="34" charset="0"/>
              </a:rPr>
              <a:t>Instacart needs a clearer signal for targeting reminders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FFB1F4-A59F-3E24-6C54-40236686A689}"/>
              </a:ext>
            </a:extLst>
          </p:cNvPr>
          <p:cNvSpPr>
            <a:spLocks noGrp="1"/>
          </p:cNvSpPr>
          <p:nvPr/>
        </p:nvSpPr>
        <p:spPr>
          <a:xfrm>
            <a:off x="942975" y="3752850"/>
            <a:ext cx="52197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t">
            <a:norm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4D4D4D"/>
                </a:solidFill>
                <a:ea typeface="Aptos"/>
                <a:cs typeface="Calibri" panose="020F0502020204030204" pitchFamily="34" charset="0"/>
              </a:rPr>
              <a:t>Without comparing current behavior with expected cadence, reminders may reach the wrong customers or arrive too late.</a:t>
            </a:r>
          </a:p>
        </p:txBody>
      </p:sp>
      <p:sp>
        <p:nvSpPr>
          <p:cNvPr id="38" name="Recommendation 1">
            <a:extLst>
              <a:ext uri="{FF2B5EF4-FFF2-40B4-BE49-F238E27FC236}">
                <a16:creationId xmlns:a16="http://schemas.microsoft.com/office/drawing/2014/main" id="{406B7971-849E-B6D5-E0E5-27F460177D79}"/>
              </a:ext>
            </a:extLst>
          </p:cNvPr>
          <p:cNvSpPr>
            <a:spLocks noGrp="1"/>
          </p:cNvSpPr>
          <p:nvPr/>
        </p:nvSpPr>
        <p:spPr>
          <a:xfrm>
            <a:off x="6705600" y="1571625"/>
            <a:ext cx="4695825" cy="742950"/>
          </a:xfrm>
          <a:prstGeom prst="rect">
            <a:avLst/>
          </a:prstGeom>
          <a:solidFill>
            <a:srgbClr val="156082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A13C41-D93C-5BC3-B249-FD2DF8AB2901}"/>
              </a:ext>
            </a:extLst>
          </p:cNvPr>
          <p:cNvSpPr>
            <a:spLocks noGrp="1"/>
          </p:cNvSpPr>
          <p:nvPr/>
        </p:nvSpPr>
        <p:spPr>
          <a:xfrm>
            <a:off x="6808820" y="1666875"/>
            <a:ext cx="4557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300" b="1" dirty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1. </a:t>
            </a:r>
            <a:r>
              <a:rPr sz="1300" b="1" dirty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Segment customers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8C6F24-A8CB-64FE-D444-38BBBCD27723}"/>
              </a:ext>
            </a:extLst>
          </p:cNvPr>
          <p:cNvSpPr>
            <a:spLocks noGrp="1"/>
          </p:cNvSpPr>
          <p:nvPr/>
        </p:nvSpPr>
        <p:spPr>
          <a:xfrm>
            <a:off x="6808820" y="1924050"/>
            <a:ext cx="455771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rm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By historical ordering frequency and basket size</a:t>
            </a:r>
          </a:p>
        </p:txBody>
      </p:sp>
      <p:sp>
        <p:nvSpPr>
          <p:cNvPr id="44" name="Recommendation 2">
            <a:extLst>
              <a:ext uri="{FF2B5EF4-FFF2-40B4-BE49-F238E27FC236}">
                <a16:creationId xmlns:a16="http://schemas.microsoft.com/office/drawing/2014/main" id="{B4B27066-DAA3-C48F-D36F-1D84B2A299A0}"/>
              </a:ext>
            </a:extLst>
          </p:cNvPr>
          <p:cNvSpPr>
            <a:spLocks noGrp="1"/>
          </p:cNvSpPr>
          <p:nvPr/>
        </p:nvSpPr>
        <p:spPr>
          <a:xfrm>
            <a:off x="6705600" y="2505075"/>
            <a:ext cx="4695825" cy="742950"/>
          </a:xfrm>
          <a:prstGeom prst="rect">
            <a:avLst/>
          </a:prstGeom>
          <a:solidFill>
            <a:srgbClr val="156082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1916DFD-BB0C-8205-F693-4A4A187F51E6}"/>
              </a:ext>
            </a:extLst>
          </p:cNvPr>
          <p:cNvSpPr>
            <a:spLocks noGrp="1"/>
          </p:cNvSpPr>
          <p:nvPr/>
        </p:nvSpPr>
        <p:spPr>
          <a:xfrm>
            <a:off x="6808820" y="2600325"/>
            <a:ext cx="4557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300" b="1" dirty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2. </a:t>
            </a:r>
            <a:r>
              <a:rPr sz="1300" b="1" dirty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Compare current behavior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A774197-65A6-E545-D5A4-D3944150D3ED}"/>
              </a:ext>
            </a:extLst>
          </p:cNvPr>
          <p:cNvSpPr>
            <a:spLocks noGrp="1"/>
          </p:cNvSpPr>
          <p:nvPr/>
        </p:nvSpPr>
        <p:spPr>
          <a:xfrm>
            <a:off x="6808820" y="2857500"/>
            <a:ext cx="455771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rm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With the expected cadence of similar customers</a:t>
            </a:r>
          </a:p>
        </p:txBody>
      </p:sp>
      <p:sp>
        <p:nvSpPr>
          <p:cNvPr id="52" name="Recommendation 3">
            <a:extLst>
              <a:ext uri="{FF2B5EF4-FFF2-40B4-BE49-F238E27FC236}">
                <a16:creationId xmlns:a16="http://schemas.microsoft.com/office/drawing/2014/main" id="{309CC355-E07F-1C48-D910-C7DB5A1C9829}"/>
              </a:ext>
            </a:extLst>
          </p:cNvPr>
          <p:cNvSpPr>
            <a:spLocks noGrp="1"/>
          </p:cNvSpPr>
          <p:nvPr/>
        </p:nvSpPr>
        <p:spPr>
          <a:xfrm>
            <a:off x="6705600" y="3438525"/>
            <a:ext cx="4695825" cy="742950"/>
          </a:xfrm>
          <a:prstGeom prst="rect">
            <a:avLst/>
          </a:prstGeom>
          <a:solidFill>
            <a:srgbClr val="156082"/>
          </a:solidFill>
          <a:ln w="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C405CF5-F0E7-69CD-7000-791E86505EFE}"/>
              </a:ext>
            </a:extLst>
          </p:cNvPr>
          <p:cNvSpPr>
            <a:spLocks noGrp="1"/>
          </p:cNvSpPr>
          <p:nvPr/>
        </p:nvSpPr>
        <p:spPr>
          <a:xfrm>
            <a:off x="6808820" y="3533775"/>
            <a:ext cx="4557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300" b="1" dirty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3. </a:t>
            </a:r>
            <a:r>
              <a:rPr sz="1300" b="1" dirty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Prioritize historically frequent customers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D8E8D6-FE17-0857-A36C-D274D5113166}"/>
              </a:ext>
            </a:extLst>
          </p:cNvPr>
          <p:cNvSpPr>
            <a:spLocks noGrp="1"/>
          </p:cNvSpPr>
          <p:nvPr/>
        </p:nvSpPr>
        <p:spPr>
          <a:xfrm>
            <a:off x="6808820" y="3790950"/>
            <a:ext cx="455771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rm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Whose ordering cadence is slowing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CD12B7C-FC0E-7969-BCFF-94EB0239BDB4}"/>
              </a:ext>
            </a:extLst>
          </p:cNvPr>
          <p:cNvSpPr>
            <a:spLocks noGrp="1"/>
          </p:cNvSpPr>
          <p:nvPr/>
        </p:nvSpPr>
        <p:spPr>
          <a:xfrm>
            <a:off x="733425" y="509587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0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156082"/>
                </a:solidFill>
                <a:ea typeface="Aptos"/>
                <a:cs typeface="Calibri" panose="020F0502020204030204" pitchFamily="34" charset="0"/>
              </a:rPr>
              <a:t>EXPECTED CADENCE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C53932F-5A7C-C536-0DD6-88CBCB2E1DC8}"/>
              </a:ext>
            </a:extLst>
          </p:cNvPr>
          <p:cNvSpPr>
            <a:spLocks noGrp="1"/>
          </p:cNvSpPr>
          <p:nvPr/>
        </p:nvSpPr>
        <p:spPr>
          <a:xfrm>
            <a:off x="733425" y="5305425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000000"/>
                </a:solidFill>
                <a:ea typeface="Aptos"/>
                <a:cs typeface="Calibri" panose="020F0502020204030204" pitchFamily="34" charset="0"/>
              </a:rPr>
              <a:t>8 days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5D07330-FA56-7BBD-473C-90873D731094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000" b="0">
                <a:solidFill>
                  <a:srgbClr val="4D4D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4D4D4D"/>
                </a:solidFill>
                <a:ea typeface="Aptos"/>
                <a:cs typeface="Calibri" panose="020F0502020204030204" pitchFamily="34" charset="0"/>
              </a:rPr>
              <a:t>Normal ordering pattern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6593DCE-469E-2721-D138-400522D07ECE}"/>
              </a:ext>
            </a:extLst>
          </p:cNvPr>
          <p:cNvSpPr>
            <a:spLocks noGrp="1"/>
          </p:cNvSpPr>
          <p:nvPr/>
        </p:nvSpPr>
        <p:spPr>
          <a:xfrm>
            <a:off x="3209925" y="5238750"/>
            <a:ext cx="523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36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3600" b="1" dirty="0">
                <a:solidFill>
                  <a:srgbClr val="156082"/>
                </a:solidFill>
                <a:ea typeface="Aptos"/>
                <a:cs typeface="Calibri" panose="020F0502020204030204" pitchFamily="34" charset="0"/>
              </a:rPr>
              <a:t>›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94518B1-A38F-DAA7-59D4-65EAC641B107}"/>
              </a:ext>
            </a:extLst>
          </p:cNvPr>
          <p:cNvSpPr>
            <a:spLocks noGrp="1"/>
          </p:cNvSpPr>
          <p:nvPr/>
        </p:nvSpPr>
        <p:spPr>
          <a:xfrm>
            <a:off x="3790950" y="50958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0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156082"/>
                </a:solidFill>
                <a:ea typeface="Aptos"/>
                <a:cs typeface="Calibri" panose="020F0502020204030204" pitchFamily="34" charset="0"/>
              </a:rPr>
              <a:t>LATEST OBSERVED GAP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4D3A3EA-14C7-AD8E-03EB-9F0D4ADEC7DE}"/>
              </a:ext>
            </a:extLst>
          </p:cNvPr>
          <p:cNvSpPr>
            <a:spLocks noGrp="1"/>
          </p:cNvSpPr>
          <p:nvPr/>
        </p:nvSpPr>
        <p:spPr>
          <a:xfrm>
            <a:off x="3790950" y="5305425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00000"/>
                </a:solidFill>
                <a:ea typeface="Aptos"/>
                <a:cs typeface="Calibri" panose="020F0502020204030204" pitchFamily="34" charset="0"/>
              </a:rPr>
              <a:t>14 days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0314B19-8F94-38E9-9ECB-19E7E9F253D2}"/>
              </a:ext>
            </a:extLst>
          </p:cNvPr>
          <p:cNvSpPr>
            <a:spLocks noGrp="1"/>
          </p:cNvSpPr>
          <p:nvPr/>
        </p:nvSpPr>
        <p:spPr>
          <a:xfrm>
            <a:off x="4429125" y="5829300"/>
            <a:ext cx="1866900" cy="304800"/>
          </a:xfrm>
          <a:prstGeom prst="roundRect">
            <a:avLst>
              <a:gd name="adj" fmla="val 50000"/>
            </a:avLst>
          </a:prstGeom>
          <a:solidFill>
            <a:srgbClr val="FDE7E7"/>
          </a:solidFill>
          <a:ln w="9525">
            <a:solidFill>
              <a:srgbClr val="CC0000"/>
            </a:solidFill>
            <a:prstDash val="solid"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00" b="1">
                <a:solidFill>
                  <a:srgbClr val="A00000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A00000"/>
                </a:solidFill>
                <a:ea typeface="Aptos"/>
                <a:cs typeface="Calibri" panose="020F0502020204030204" pitchFamily="34" charset="0"/>
              </a:rPr>
              <a:t>1.75× expected cadence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CB43D53-CBCD-3012-DA34-A1C903EB979E}"/>
              </a:ext>
            </a:extLst>
          </p:cNvPr>
          <p:cNvSpPr>
            <a:spLocks noGrp="1"/>
          </p:cNvSpPr>
          <p:nvPr/>
        </p:nvSpPr>
        <p:spPr>
          <a:xfrm>
            <a:off x="7124700" y="5238750"/>
            <a:ext cx="523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3600" b="1">
                <a:solidFill>
                  <a:srgbClr val="CC000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C0000"/>
                </a:solidFill>
                <a:ea typeface="Aptos"/>
                <a:cs typeface="Calibri" panose="020F0502020204030204" pitchFamily="34" charset="0"/>
              </a:rPr>
              <a:t>›</a:t>
            </a:r>
          </a:p>
        </p:txBody>
      </p:sp>
      <p:sp>
        <p:nvSpPr>
          <p:cNvPr id="68" name="Engagement outcome">
            <a:extLst>
              <a:ext uri="{FF2B5EF4-FFF2-40B4-BE49-F238E27FC236}">
                <a16:creationId xmlns:a16="http://schemas.microsoft.com/office/drawing/2014/main" id="{CF3DDD22-F9B6-981D-9B82-AAB12E8611AC}"/>
              </a:ext>
            </a:extLst>
          </p:cNvPr>
          <p:cNvSpPr>
            <a:spLocks noGrp="1"/>
          </p:cNvSpPr>
          <p:nvPr/>
        </p:nvSpPr>
        <p:spPr>
          <a:xfrm>
            <a:off x="7781925" y="5095875"/>
            <a:ext cx="3638550" cy="1162050"/>
          </a:xfrm>
          <a:prstGeom prst="roundRect">
            <a:avLst>
              <a:gd name="adj" fmla="val 13115"/>
            </a:avLst>
          </a:prstGeom>
          <a:solidFill>
            <a:srgbClr val="F79F9F"/>
          </a:solidFill>
          <a:ln w="0">
            <a:noFill/>
            <a:prstDash val="solid"/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Weakening engagement</a:t>
            </a:r>
          </a:p>
          <a:p>
            <a:pPr algn="ctr"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FFFFFF"/>
                </a:solidFill>
                <a:ea typeface="Aptos"/>
                <a:cs typeface="Calibri" panose="020F0502020204030204" pitchFamily="34" charset="0"/>
              </a:rPr>
              <a:t>Personalized reorder reminder</a:t>
            </a:r>
          </a:p>
        </p:txBody>
      </p:sp>
    </p:spTree>
    <p:extLst>
      <p:ext uri="{BB962C8B-B14F-4D97-AF65-F5344CB8AC3E}">
        <p14:creationId xmlns:p14="http://schemas.microsoft.com/office/powerpoint/2010/main" val="169553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B2DD-CEB8-EDB7-B5E9-5DCBD7D6B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AD188-D887-3080-75C0-00382D81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The analysis uses historical ordering behavior to understand customer segments and changes in engagement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DF49127-3342-E987-18DF-3ABA7D498E03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4F0E037A-3344-A877-C020-30C557F83F9A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Business Question, Dataset and Scope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BE4E4F9-1361-59A3-2280-EB4F16E8F34F}"/>
              </a:ext>
            </a:extLst>
          </p:cNvPr>
          <p:cNvSpPr txBox="1"/>
          <p:nvPr/>
        </p:nvSpPr>
        <p:spPr>
          <a:xfrm>
            <a:off x="328411" y="1236371"/>
            <a:ext cx="11533031" cy="907941"/>
          </a:xfrm>
          <a:prstGeom prst="rect">
            <a:avLst/>
          </a:prstGeom>
          <a:solidFill>
            <a:srgbClr val="156082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sz="1600" b="1" dirty="0">
                <a:solidFill>
                  <a:schemeClr val="bg1"/>
                </a:solidFill>
              </a:rPr>
              <a:t>Business Question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How do ordering frequency and basket size differ across Instacart customers, and where does customer engagement appear to be weakening</a:t>
            </a:r>
            <a:r>
              <a:rPr lang="de-DE" sz="1600" dirty="0">
                <a:solidFill>
                  <a:schemeClr val="bg1"/>
                </a:solidFill>
              </a:rPr>
              <a:t> ?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3D11FE5-EA30-2BE2-AAE2-25E705D61828}"/>
              </a:ext>
            </a:extLst>
          </p:cNvPr>
          <p:cNvSpPr/>
          <p:nvPr/>
        </p:nvSpPr>
        <p:spPr>
          <a:xfrm>
            <a:off x="328410" y="2318195"/>
            <a:ext cx="3240000" cy="4204953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600" b="1" dirty="0">
                <a:solidFill>
                  <a:srgbClr val="156082"/>
                </a:solidFill>
              </a:rPr>
              <a:t>Dataset</a:t>
            </a:r>
          </a:p>
          <a:p>
            <a:r>
              <a:rPr lang="de-DE" sz="1200" dirty="0">
                <a:solidFill>
                  <a:schemeClr val="tx1"/>
                </a:solidFill>
              </a:rPr>
              <a:t>Instacart </a:t>
            </a:r>
            <a:r>
              <a:rPr lang="de-DE" sz="1200" dirty="0" err="1">
                <a:solidFill>
                  <a:schemeClr val="tx1"/>
                </a:solidFill>
              </a:rPr>
              <a:t>transactional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data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across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six</a:t>
            </a:r>
            <a:r>
              <a:rPr lang="de-DE" sz="1200" dirty="0">
                <a:solidFill>
                  <a:schemeClr val="tx1"/>
                </a:solidFill>
              </a:rPr>
              <a:t> relational </a:t>
            </a:r>
            <a:r>
              <a:rPr lang="de-DE" sz="1200" dirty="0" err="1">
                <a:solidFill>
                  <a:schemeClr val="tx1"/>
                </a:solidFill>
              </a:rPr>
              <a:t>tables</a:t>
            </a:r>
            <a:r>
              <a:rPr lang="de-DE" sz="1200" dirty="0">
                <a:solidFill>
                  <a:schemeClr val="tx1"/>
                </a:solidFill>
              </a:rPr>
              <a:t>:</a:t>
            </a:r>
          </a:p>
          <a:p>
            <a:endParaRPr lang="de-DE" sz="1600" b="1" dirty="0">
              <a:solidFill>
                <a:srgbClr val="008000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A0B9BD-D737-56D0-BDC8-A15069A382A5}"/>
              </a:ext>
            </a:extLst>
          </p:cNvPr>
          <p:cNvSpPr/>
          <p:nvPr/>
        </p:nvSpPr>
        <p:spPr>
          <a:xfrm>
            <a:off x="3790432" y="2318195"/>
            <a:ext cx="3240000" cy="4204952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de-DE" sz="1600" b="1" dirty="0">
                <a:solidFill>
                  <a:srgbClr val="156082"/>
                </a:solidFill>
              </a:rPr>
              <a:t>Key behavioral </a:t>
            </a:r>
            <a:r>
              <a:rPr lang="de-DE" sz="1600" b="1" dirty="0" err="1">
                <a:solidFill>
                  <a:srgbClr val="156082"/>
                </a:solidFill>
              </a:rPr>
              <a:t>measures</a:t>
            </a:r>
            <a:endParaRPr lang="de-DE" sz="1600" b="1" dirty="0">
              <a:solidFill>
                <a:srgbClr val="156082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B2D7393-4881-124C-E194-C176BC42B2CF}"/>
              </a:ext>
            </a:extLst>
          </p:cNvPr>
          <p:cNvSpPr/>
          <p:nvPr/>
        </p:nvSpPr>
        <p:spPr>
          <a:xfrm>
            <a:off x="7252454" y="2318195"/>
            <a:ext cx="4608988" cy="2054181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de-DE" sz="1600" b="1" dirty="0">
                <a:solidFill>
                  <a:srgbClr val="156082"/>
                </a:solidFill>
              </a:rPr>
              <a:t>Scope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Focuses on </a:t>
            </a:r>
            <a:r>
              <a:rPr lang="en-US" sz="1200" b="1" dirty="0">
                <a:solidFill>
                  <a:schemeClr val="tx1"/>
                </a:solidFill>
              </a:rPr>
              <a:t>behavioral customer segmentation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Segmentation by </a:t>
            </a:r>
            <a:r>
              <a:rPr lang="en-US" sz="1200" b="1" dirty="0">
                <a:solidFill>
                  <a:schemeClr val="tx1"/>
                </a:solidFill>
              </a:rPr>
              <a:t>ordering frequency </a:t>
            </a:r>
            <a:r>
              <a:rPr lang="en-US" sz="1200" dirty="0">
                <a:solidFill>
                  <a:schemeClr val="tx1"/>
                </a:solidFill>
              </a:rPr>
              <a:t>and </a:t>
            </a:r>
            <a:r>
              <a:rPr lang="en-US" sz="1200" b="1" dirty="0">
                <a:solidFill>
                  <a:schemeClr val="tx1"/>
                </a:solidFill>
              </a:rPr>
              <a:t>basket size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Current ordering behavior </a:t>
            </a:r>
            <a:r>
              <a:rPr lang="en-US" sz="1200" dirty="0">
                <a:solidFill>
                  <a:schemeClr val="tx1"/>
                </a:solidFill>
              </a:rPr>
              <a:t>is </a:t>
            </a:r>
            <a:r>
              <a:rPr lang="en-US" sz="1200" b="1" dirty="0">
                <a:solidFill>
                  <a:schemeClr val="tx1"/>
                </a:solidFill>
              </a:rPr>
              <a:t>compared</a:t>
            </a:r>
            <a:r>
              <a:rPr lang="en-US" sz="1200" dirty="0">
                <a:solidFill>
                  <a:schemeClr val="tx1"/>
                </a:solidFill>
              </a:rPr>
              <a:t> with historical ordering patterns.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Customers returning more slowly than expected are identified as </a:t>
            </a:r>
            <a:r>
              <a:rPr lang="en-US" sz="1200" b="1" dirty="0">
                <a:solidFill>
                  <a:schemeClr val="tx1"/>
                </a:solidFill>
              </a:rPr>
              <a:t>showing weakening engagement</a:t>
            </a:r>
          </a:p>
          <a:p>
            <a:endParaRPr lang="de-DE" sz="1600" b="1" dirty="0">
              <a:solidFill>
                <a:srgbClr val="008000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C5BFBF0-A52E-890D-22FE-C1753BE6DD81}"/>
              </a:ext>
            </a:extLst>
          </p:cNvPr>
          <p:cNvSpPr/>
          <p:nvPr/>
        </p:nvSpPr>
        <p:spPr>
          <a:xfrm>
            <a:off x="7252454" y="4468967"/>
            <a:ext cx="4608988" cy="2054181"/>
          </a:xfrm>
          <a:prstGeom prst="rect">
            <a:avLst/>
          </a:prstGeom>
          <a:solidFill>
            <a:srgbClr val="FFD5D5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de-DE" sz="1600" b="1" dirty="0">
                <a:solidFill>
                  <a:srgbClr val="FF0000"/>
                </a:solidFill>
              </a:rPr>
              <a:t>Key </a:t>
            </a:r>
            <a:r>
              <a:rPr lang="de-DE" sz="1600" b="1" dirty="0" err="1">
                <a:solidFill>
                  <a:srgbClr val="FF0000"/>
                </a:solidFill>
              </a:rPr>
              <a:t>Limitations</a:t>
            </a:r>
            <a:endParaRPr lang="de-DE" sz="1600" b="1" dirty="0">
              <a:solidFill>
                <a:srgbClr val="FF000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No demographic information </a:t>
            </a:r>
            <a:r>
              <a:rPr lang="en-US" sz="1200" dirty="0">
                <a:solidFill>
                  <a:schemeClr val="tx1"/>
                </a:solidFill>
              </a:rPr>
              <a:t>is available for customer segmentation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Price, cost, margin, and promotion data</a:t>
            </a:r>
            <a:r>
              <a:rPr lang="en-US" sz="1200" dirty="0">
                <a:solidFill>
                  <a:schemeClr val="tx1"/>
                </a:solidFill>
              </a:rPr>
              <a:t> are not included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order-gap field has an </a:t>
            </a:r>
            <a:r>
              <a:rPr lang="en-US" sz="1200" b="1" dirty="0">
                <a:solidFill>
                  <a:schemeClr val="tx1"/>
                </a:solidFill>
              </a:rPr>
              <a:t>upper recording limit of 30 days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Customers reaching the 30-day limit </a:t>
            </a:r>
            <a:r>
              <a:rPr lang="en-US" sz="1200" dirty="0">
                <a:solidFill>
                  <a:schemeClr val="tx1"/>
                </a:solidFill>
              </a:rPr>
              <a:t>are treated separately because their exact slowdown cannot be determined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D462D1D-F374-1CA6-6966-2D0F8142FA93}"/>
              </a:ext>
            </a:extLst>
          </p:cNvPr>
          <p:cNvSpPr txBox="1"/>
          <p:nvPr/>
        </p:nvSpPr>
        <p:spPr>
          <a:xfrm>
            <a:off x="1106074" y="3041571"/>
            <a:ext cx="24623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de-DE" sz="1200" b="1" dirty="0"/>
              <a:t>Orders</a:t>
            </a:r>
            <a:br>
              <a:rPr lang="de-DE" sz="1200" dirty="0"/>
            </a:br>
            <a:r>
              <a:rPr lang="de-DE" sz="1200" dirty="0"/>
              <a:t>Customer </a:t>
            </a:r>
            <a:r>
              <a:rPr lang="de-DE" sz="1200" dirty="0" err="1"/>
              <a:t>order</a:t>
            </a:r>
            <a:r>
              <a:rPr lang="de-DE" sz="1200" dirty="0"/>
              <a:t> </a:t>
            </a:r>
            <a:r>
              <a:rPr lang="de-DE" sz="1200" dirty="0" err="1"/>
              <a:t>history</a:t>
            </a:r>
            <a:r>
              <a:rPr lang="de-DE" sz="1200" dirty="0"/>
              <a:t> and </a:t>
            </a:r>
            <a:r>
              <a:rPr lang="de-DE" sz="1200" dirty="0" err="1"/>
              <a:t>timing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/>
              <a:t>Prior Order Products</a:t>
            </a:r>
            <a:br>
              <a:rPr lang="de-DE" sz="1200" dirty="0"/>
            </a:br>
            <a:r>
              <a:rPr lang="de-DE" sz="1200" dirty="0"/>
              <a:t>Products </a:t>
            </a:r>
            <a:r>
              <a:rPr lang="de-DE" sz="1200" dirty="0" err="1"/>
              <a:t>purchased</a:t>
            </a:r>
            <a:r>
              <a:rPr lang="de-DE" sz="1200" dirty="0"/>
              <a:t> in </a:t>
            </a:r>
            <a:r>
              <a:rPr lang="de-DE" sz="1200" dirty="0" err="1"/>
              <a:t>previous</a:t>
            </a:r>
            <a:r>
              <a:rPr lang="de-DE" sz="1200" dirty="0"/>
              <a:t> </a:t>
            </a:r>
            <a:r>
              <a:rPr lang="de-DE" sz="1200" dirty="0" err="1"/>
              <a:t>orders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/>
              <a:t>Recent Order Products </a:t>
            </a:r>
            <a:br>
              <a:rPr lang="de-DE" sz="1200" dirty="0"/>
            </a:br>
            <a:r>
              <a:rPr lang="de-DE" sz="1200" dirty="0"/>
              <a:t>Products </a:t>
            </a:r>
            <a:r>
              <a:rPr lang="de-DE" sz="1200" dirty="0" err="1"/>
              <a:t>purchased</a:t>
            </a:r>
            <a:r>
              <a:rPr lang="de-DE" sz="1200" dirty="0"/>
              <a:t> in the </a:t>
            </a:r>
            <a:r>
              <a:rPr lang="de-DE" sz="1200" dirty="0" err="1"/>
              <a:t>most</a:t>
            </a:r>
            <a:r>
              <a:rPr lang="de-DE" sz="1200" dirty="0"/>
              <a:t> </a:t>
            </a:r>
            <a:r>
              <a:rPr lang="de-DE" sz="1200" dirty="0" err="1"/>
              <a:t>recent</a:t>
            </a:r>
            <a:r>
              <a:rPr lang="de-DE" sz="1200" dirty="0"/>
              <a:t> released </a:t>
            </a:r>
            <a:r>
              <a:rPr lang="de-DE" sz="1200" dirty="0" err="1"/>
              <a:t>orders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/>
              <a:t>Products</a:t>
            </a:r>
            <a:br>
              <a:rPr lang="de-DE" sz="1200" dirty="0"/>
            </a:br>
            <a:r>
              <a:rPr lang="de-DE" sz="1200" dirty="0"/>
              <a:t>Product-level </a:t>
            </a:r>
            <a:r>
              <a:rPr lang="de-DE" sz="1200" dirty="0" err="1"/>
              <a:t>information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 err="1"/>
              <a:t>Aisles</a:t>
            </a:r>
            <a:br>
              <a:rPr lang="de-DE" sz="1200" dirty="0"/>
            </a:br>
            <a:r>
              <a:rPr lang="de-DE" sz="1200" dirty="0" err="1"/>
              <a:t>Product</a:t>
            </a:r>
            <a:r>
              <a:rPr lang="de-DE" sz="1200" dirty="0"/>
              <a:t> </a:t>
            </a:r>
            <a:r>
              <a:rPr lang="de-DE" sz="1200" dirty="0" err="1"/>
              <a:t>aisle</a:t>
            </a:r>
            <a:r>
              <a:rPr lang="de-DE" sz="1200" dirty="0"/>
              <a:t> </a:t>
            </a:r>
            <a:r>
              <a:rPr lang="de-DE" sz="1200" dirty="0" err="1"/>
              <a:t>categories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/>
              <a:t>Departments</a:t>
            </a:r>
            <a:br>
              <a:rPr lang="de-DE" sz="1200" dirty="0"/>
            </a:br>
            <a:r>
              <a:rPr lang="de-DE" sz="1200" dirty="0" err="1"/>
              <a:t>Product</a:t>
            </a:r>
            <a:r>
              <a:rPr lang="de-DE" sz="1200" dirty="0"/>
              <a:t> </a:t>
            </a:r>
            <a:r>
              <a:rPr lang="de-DE" sz="1200" dirty="0" err="1"/>
              <a:t>department</a:t>
            </a:r>
            <a:r>
              <a:rPr lang="de-DE" sz="1200" dirty="0"/>
              <a:t> </a:t>
            </a:r>
            <a:r>
              <a:rPr lang="de-DE" sz="1200" dirty="0" err="1"/>
              <a:t>categories</a:t>
            </a:r>
            <a:endParaRPr lang="de-DE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lussdiagramm: Verbinder 16">
            <a:extLst>
              <a:ext uri="{FF2B5EF4-FFF2-40B4-BE49-F238E27FC236}">
                <a16:creationId xmlns:a16="http://schemas.microsoft.com/office/drawing/2014/main" id="{E0694BA0-B2F8-E2AB-BA45-D64147E52B9A}"/>
              </a:ext>
            </a:extLst>
          </p:cNvPr>
          <p:cNvSpPr>
            <a:spLocks noChangeAspect="1"/>
          </p:cNvSpPr>
          <p:nvPr/>
        </p:nvSpPr>
        <p:spPr>
          <a:xfrm>
            <a:off x="452051" y="3072351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Flussdiagramm: Verbinder 28">
            <a:extLst>
              <a:ext uri="{FF2B5EF4-FFF2-40B4-BE49-F238E27FC236}">
                <a16:creationId xmlns:a16="http://schemas.microsoft.com/office/drawing/2014/main" id="{C1E8CF96-2B04-1456-598D-3ADCBF8820B6}"/>
              </a:ext>
            </a:extLst>
          </p:cNvPr>
          <p:cNvSpPr>
            <a:spLocks noChangeAspect="1"/>
          </p:cNvSpPr>
          <p:nvPr/>
        </p:nvSpPr>
        <p:spPr>
          <a:xfrm>
            <a:off x="452051" y="3631441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1" name="Flussdiagramm: Verbinder 30">
            <a:extLst>
              <a:ext uri="{FF2B5EF4-FFF2-40B4-BE49-F238E27FC236}">
                <a16:creationId xmlns:a16="http://schemas.microsoft.com/office/drawing/2014/main" id="{CEA51C5B-060A-73D5-1B22-D634C3178DB6}"/>
              </a:ext>
            </a:extLst>
          </p:cNvPr>
          <p:cNvSpPr>
            <a:spLocks noChangeAspect="1"/>
          </p:cNvSpPr>
          <p:nvPr/>
        </p:nvSpPr>
        <p:spPr>
          <a:xfrm>
            <a:off x="452051" y="4338072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Flussdiagramm: Verbinder 32">
            <a:extLst>
              <a:ext uri="{FF2B5EF4-FFF2-40B4-BE49-F238E27FC236}">
                <a16:creationId xmlns:a16="http://schemas.microsoft.com/office/drawing/2014/main" id="{A781CF00-C462-9BAF-8EFD-33A0490B3CA0}"/>
              </a:ext>
            </a:extLst>
          </p:cNvPr>
          <p:cNvSpPr>
            <a:spLocks noChangeAspect="1"/>
          </p:cNvSpPr>
          <p:nvPr/>
        </p:nvSpPr>
        <p:spPr>
          <a:xfrm>
            <a:off x="452051" y="4972286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Flussdiagramm: Verbinder 34">
            <a:extLst>
              <a:ext uri="{FF2B5EF4-FFF2-40B4-BE49-F238E27FC236}">
                <a16:creationId xmlns:a16="http://schemas.microsoft.com/office/drawing/2014/main" id="{F225D547-AEFC-1C99-6A19-1065858AFA4C}"/>
              </a:ext>
            </a:extLst>
          </p:cNvPr>
          <p:cNvSpPr>
            <a:spLocks noChangeAspect="1"/>
          </p:cNvSpPr>
          <p:nvPr/>
        </p:nvSpPr>
        <p:spPr>
          <a:xfrm>
            <a:off x="447057" y="5531717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Flussdiagramm: Verbinder 36">
            <a:extLst>
              <a:ext uri="{FF2B5EF4-FFF2-40B4-BE49-F238E27FC236}">
                <a16:creationId xmlns:a16="http://schemas.microsoft.com/office/drawing/2014/main" id="{399A33AE-BC18-CA0E-09C6-459157FD7E99}"/>
              </a:ext>
            </a:extLst>
          </p:cNvPr>
          <p:cNvSpPr>
            <a:spLocks noChangeAspect="1"/>
          </p:cNvSpPr>
          <p:nvPr/>
        </p:nvSpPr>
        <p:spPr>
          <a:xfrm>
            <a:off x="447057" y="6009363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1478AF0-257F-7342-FA56-A59A797CCEA7}"/>
              </a:ext>
            </a:extLst>
          </p:cNvPr>
          <p:cNvSpPr txBox="1"/>
          <p:nvPr/>
        </p:nvSpPr>
        <p:spPr>
          <a:xfrm>
            <a:off x="4346074" y="2703016"/>
            <a:ext cx="26843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de-DE" sz="1200" b="1" dirty="0"/>
              <a:t>Basket Size</a:t>
            </a:r>
            <a:br>
              <a:rPr lang="de-DE" sz="1200" dirty="0"/>
            </a:br>
            <a:r>
              <a:rPr lang="de-DE" sz="1200" dirty="0"/>
              <a:t>Average </a:t>
            </a:r>
            <a:r>
              <a:rPr lang="de-DE" sz="1200" dirty="0" err="1"/>
              <a:t>number</a:t>
            </a:r>
            <a:r>
              <a:rPr lang="de-DE" sz="1200" dirty="0"/>
              <a:t> of </a:t>
            </a:r>
            <a:r>
              <a:rPr lang="de-DE" sz="1200" dirty="0" err="1"/>
              <a:t>products</a:t>
            </a:r>
            <a:r>
              <a:rPr lang="de-DE" sz="1200" dirty="0"/>
              <a:t> per </a:t>
            </a:r>
            <a:r>
              <a:rPr lang="de-DE" sz="1200" dirty="0" err="1"/>
              <a:t>order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 err="1"/>
              <a:t>Ordering</a:t>
            </a:r>
            <a:r>
              <a:rPr lang="de-DE" sz="1200" b="1" dirty="0"/>
              <a:t> </a:t>
            </a:r>
            <a:r>
              <a:rPr lang="de-DE" sz="1200" b="1" dirty="0" err="1"/>
              <a:t>Frequency</a:t>
            </a:r>
            <a:br>
              <a:rPr lang="de-DE" sz="1200" dirty="0"/>
            </a:br>
            <a:r>
              <a:rPr lang="de-DE" sz="1200" dirty="0"/>
              <a:t>Average </a:t>
            </a:r>
            <a:r>
              <a:rPr lang="de-DE" sz="1200" dirty="0" err="1"/>
              <a:t>days</a:t>
            </a:r>
            <a:r>
              <a:rPr lang="de-DE" sz="1200" dirty="0"/>
              <a:t> </a:t>
            </a:r>
            <a:r>
              <a:rPr lang="de-DE" sz="1200" dirty="0" err="1"/>
              <a:t>between</a:t>
            </a:r>
            <a:r>
              <a:rPr lang="de-DE" sz="1200" dirty="0"/>
              <a:t> a </a:t>
            </a:r>
            <a:r>
              <a:rPr lang="de-DE" sz="1200" dirty="0" err="1"/>
              <a:t>customer‘s</a:t>
            </a:r>
            <a:r>
              <a:rPr lang="de-DE" sz="1200" dirty="0"/>
              <a:t> </a:t>
            </a:r>
            <a:r>
              <a:rPr lang="de-DE" sz="1200" dirty="0" err="1"/>
              <a:t>orders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/>
              <a:t>Order </a:t>
            </a:r>
            <a:r>
              <a:rPr lang="de-DE" sz="1200" b="1" dirty="0" err="1"/>
              <a:t>History</a:t>
            </a:r>
            <a:br>
              <a:rPr lang="de-DE" sz="1200" dirty="0"/>
            </a:br>
            <a:r>
              <a:rPr lang="de-DE" sz="1200" dirty="0"/>
              <a:t>Number of </a:t>
            </a:r>
            <a:r>
              <a:rPr lang="de-DE" sz="1200" dirty="0" err="1"/>
              <a:t>prior</a:t>
            </a:r>
            <a:r>
              <a:rPr lang="de-DE" sz="1200" dirty="0"/>
              <a:t> </a:t>
            </a:r>
            <a:r>
              <a:rPr lang="de-DE" sz="1200" dirty="0" err="1"/>
              <a:t>orders</a:t>
            </a:r>
            <a:r>
              <a:rPr lang="de-DE" sz="1200" dirty="0"/>
              <a:t> per </a:t>
            </a:r>
            <a:r>
              <a:rPr lang="de-DE" sz="1200" dirty="0" err="1"/>
              <a:t>customer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 err="1"/>
              <a:t>Reorder</a:t>
            </a:r>
            <a:r>
              <a:rPr lang="de-DE" sz="1200" b="1" dirty="0"/>
              <a:t> </a:t>
            </a:r>
            <a:r>
              <a:rPr lang="de-DE" sz="1200" b="1" dirty="0" err="1"/>
              <a:t>Behavior</a:t>
            </a:r>
            <a:br>
              <a:rPr lang="de-DE" sz="1200" dirty="0"/>
            </a:br>
            <a:r>
              <a:rPr lang="de-DE" sz="1200" dirty="0"/>
              <a:t>Share of </a:t>
            </a:r>
            <a:r>
              <a:rPr lang="de-DE" sz="1200" dirty="0" err="1"/>
              <a:t>purchased</a:t>
            </a:r>
            <a:r>
              <a:rPr lang="de-DE" sz="1200" dirty="0"/>
              <a:t> </a:t>
            </a:r>
            <a:r>
              <a:rPr lang="de-DE" sz="1200" dirty="0" err="1"/>
              <a:t>products</a:t>
            </a:r>
            <a:r>
              <a:rPr lang="de-DE" sz="1200" dirty="0"/>
              <a:t> </a:t>
            </a:r>
            <a:r>
              <a:rPr lang="de-DE" sz="1200" dirty="0" err="1"/>
              <a:t>that</a:t>
            </a:r>
            <a:r>
              <a:rPr lang="de-DE" sz="1200" dirty="0"/>
              <a:t> </a:t>
            </a:r>
            <a:r>
              <a:rPr lang="de-DE" sz="1200" dirty="0" err="1"/>
              <a:t>were</a:t>
            </a:r>
            <a:r>
              <a:rPr lang="de-DE" sz="1200" dirty="0"/>
              <a:t> </a:t>
            </a:r>
            <a:r>
              <a:rPr lang="de-DE" sz="1200" dirty="0" err="1"/>
              <a:t>previously</a:t>
            </a:r>
            <a:r>
              <a:rPr lang="de-DE" sz="1200" dirty="0"/>
              <a:t> </a:t>
            </a:r>
            <a:r>
              <a:rPr lang="de-DE" sz="1200" dirty="0" err="1"/>
              <a:t>ordered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 err="1"/>
              <a:t>Latest</a:t>
            </a:r>
            <a:r>
              <a:rPr lang="de-DE" sz="1200" b="1" dirty="0"/>
              <a:t> </a:t>
            </a:r>
            <a:r>
              <a:rPr lang="de-DE" sz="1200" b="1" dirty="0" err="1"/>
              <a:t>Observed</a:t>
            </a:r>
            <a:r>
              <a:rPr lang="de-DE" sz="1200" b="1" dirty="0"/>
              <a:t> Order Gap</a:t>
            </a:r>
            <a:br>
              <a:rPr lang="de-DE" sz="1200" dirty="0"/>
            </a:br>
            <a:r>
              <a:rPr lang="de-DE" sz="1200" dirty="0"/>
              <a:t>Most </a:t>
            </a:r>
            <a:r>
              <a:rPr lang="de-DE" sz="1200" dirty="0" err="1"/>
              <a:t>recent</a:t>
            </a:r>
            <a:r>
              <a:rPr lang="de-DE" sz="1200" dirty="0"/>
              <a:t> </a:t>
            </a:r>
            <a:r>
              <a:rPr lang="de-DE" sz="1200" dirty="0" err="1"/>
              <a:t>recorded</a:t>
            </a:r>
            <a:r>
              <a:rPr lang="de-DE" sz="1200" dirty="0"/>
              <a:t> time </a:t>
            </a:r>
            <a:r>
              <a:rPr lang="de-DE" sz="1200" dirty="0" err="1"/>
              <a:t>between</a:t>
            </a:r>
            <a:r>
              <a:rPr lang="de-DE" sz="1200" dirty="0"/>
              <a:t> </a:t>
            </a:r>
            <a:r>
              <a:rPr lang="de-DE" sz="1200" dirty="0" err="1"/>
              <a:t>orders</a:t>
            </a:r>
            <a:endParaRPr lang="de-DE" sz="1200" dirty="0"/>
          </a:p>
          <a:p>
            <a:pPr>
              <a:spcBef>
                <a:spcPts val="1200"/>
              </a:spcBef>
            </a:pPr>
            <a:r>
              <a:rPr lang="de-DE" sz="1200" b="1" dirty="0"/>
              <a:t>Historical </a:t>
            </a:r>
            <a:r>
              <a:rPr lang="de-DE" sz="1200" b="1" dirty="0" err="1"/>
              <a:t>Ordering</a:t>
            </a:r>
            <a:r>
              <a:rPr lang="de-DE" sz="1200" b="1" dirty="0"/>
              <a:t> Pattern</a:t>
            </a:r>
            <a:br>
              <a:rPr lang="de-DE" sz="1200" dirty="0"/>
            </a:br>
            <a:r>
              <a:rPr lang="de-DE" sz="1200" dirty="0" err="1"/>
              <a:t>Customer‘s</a:t>
            </a:r>
            <a:r>
              <a:rPr lang="de-DE" sz="1200" dirty="0"/>
              <a:t> </a:t>
            </a:r>
            <a:r>
              <a:rPr lang="de-DE" sz="1200" dirty="0" err="1"/>
              <a:t>typical</a:t>
            </a:r>
            <a:r>
              <a:rPr lang="de-DE" sz="1200" dirty="0"/>
              <a:t> </a:t>
            </a:r>
            <a:r>
              <a:rPr lang="de-DE" sz="1200" dirty="0" err="1"/>
              <a:t>past</a:t>
            </a:r>
            <a:r>
              <a:rPr lang="de-DE" sz="1200" dirty="0"/>
              <a:t> </a:t>
            </a:r>
            <a:r>
              <a:rPr lang="de-DE" sz="1200" dirty="0" err="1"/>
              <a:t>ordering</a:t>
            </a:r>
            <a:r>
              <a:rPr lang="de-DE" sz="1200" dirty="0"/>
              <a:t> </a:t>
            </a:r>
            <a:r>
              <a:rPr lang="de-DE" sz="1200" dirty="0" err="1"/>
              <a:t>behavior</a:t>
            </a:r>
            <a:endParaRPr lang="de-DE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Flussdiagramm: Verbinder 40">
            <a:extLst>
              <a:ext uri="{FF2B5EF4-FFF2-40B4-BE49-F238E27FC236}">
                <a16:creationId xmlns:a16="http://schemas.microsoft.com/office/drawing/2014/main" id="{49AF3B82-A123-F769-8F14-C65FF8E60A04}"/>
              </a:ext>
            </a:extLst>
          </p:cNvPr>
          <p:cNvSpPr>
            <a:spLocks noChangeAspect="1"/>
          </p:cNvSpPr>
          <p:nvPr/>
        </p:nvSpPr>
        <p:spPr>
          <a:xfrm>
            <a:off x="3908050" y="2739735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Flussdiagramm: Verbinder 42">
            <a:extLst>
              <a:ext uri="{FF2B5EF4-FFF2-40B4-BE49-F238E27FC236}">
                <a16:creationId xmlns:a16="http://schemas.microsoft.com/office/drawing/2014/main" id="{FC896F92-1EE5-65FD-2DE9-C66E71AF9804}"/>
              </a:ext>
            </a:extLst>
          </p:cNvPr>
          <p:cNvSpPr>
            <a:spLocks noChangeAspect="1"/>
          </p:cNvSpPr>
          <p:nvPr/>
        </p:nvSpPr>
        <p:spPr>
          <a:xfrm>
            <a:off x="3908050" y="3315966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Flussdiagramm: Verbinder 44">
            <a:extLst>
              <a:ext uri="{FF2B5EF4-FFF2-40B4-BE49-F238E27FC236}">
                <a16:creationId xmlns:a16="http://schemas.microsoft.com/office/drawing/2014/main" id="{089E9278-AF64-617E-16B9-6197E2CDF214}"/>
              </a:ext>
            </a:extLst>
          </p:cNvPr>
          <p:cNvSpPr>
            <a:spLocks noChangeAspect="1"/>
          </p:cNvSpPr>
          <p:nvPr/>
        </p:nvSpPr>
        <p:spPr>
          <a:xfrm>
            <a:off x="3908051" y="3940376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Flussdiagramm: Verbinder 46">
            <a:extLst>
              <a:ext uri="{FF2B5EF4-FFF2-40B4-BE49-F238E27FC236}">
                <a16:creationId xmlns:a16="http://schemas.microsoft.com/office/drawing/2014/main" id="{0202C091-8A72-E42D-0941-F44A368FA9D6}"/>
              </a:ext>
            </a:extLst>
          </p:cNvPr>
          <p:cNvSpPr>
            <a:spLocks noChangeAspect="1"/>
          </p:cNvSpPr>
          <p:nvPr/>
        </p:nvSpPr>
        <p:spPr>
          <a:xfrm>
            <a:off x="3908051" y="4574590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Flussdiagramm: Verbinder 48">
            <a:extLst>
              <a:ext uri="{FF2B5EF4-FFF2-40B4-BE49-F238E27FC236}">
                <a16:creationId xmlns:a16="http://schemas.microsoft.com/office/drawing/2014/main" id="{54F52395-4114-2936-B1A7-8220D8A6F23C}"/>
              </a:ext>
            </a:extLst>
          </p:cNvPr>
          <p:cNvSpPr>
            <a:spLocks noChangeAspect="1"/>
          </p:cNvSpPr>
          <p:nvPr/>
        </p:nvSpPr>
        <p:spPr>
          <a:xfrm>
            <a:off x="3908050" y="5243254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Flussdiagramm: Verbinder 50">
            <a:extLst>
              <a:ext uri="{FF2B5EF4-FFF2-40B4-BE49-F238E27FC236}">
                <a16:creationId xmlns:a16="http://schemas.microsoft.com/office/drawing/2014/main" id="{4C9F31C2-5A71-5EF1-6D01-3126F65FB7F7}"/>
              </a:ext>
            </a:extLst>
          </p:cNvPr>
          <p:cNvSpPr>
            <a:spLocks noChangeAspect="1"/>
          </p:cNvSpPr>
          <p:nvPr/>
        </p:nvSpPr>
        <p:spPr>
          <a:xfrm>
            <a:off x="3914073" y="5963717"/>
            <a:ext cx="432001" cy="432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3" name="Grafik 52" descr="Marke Silhouette">
            <a:extLst>
              <a:ext uri="{FF2B5EF4-FFF2-40B4-BE49-F238E27FC236}">
                <a16:creationId xmlns:a16="http://schemas.microsoft.com/office/drawing/2014/main" id="{013527F7-70AF-EAE6-4B6C-59B1810270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265" y="5567578"/>
            <a:ext cx="360000" cy="360000"/>
          </a:xfrm>
          <a:prstGeom prst="rect">
            <a:avLst/>
          </a:prstGeom>
        </p:spPr>
      </p:pic>
      <p:pic>
        <p:nvPicPr>
          <p:cNvPr id="57" name="Grafik 56" descr="Einkaufskorb Silhouette">
            <a:extLst>
              <a:ext uri="{FF2B5EF4-FFF2-40B4-BE49-F238E27FC236}">
                <a16:creationId xmlns:a16="http://schemas.microsoft.com/office/drawing/2014/main" id="{8D66DD4C-BCD3-00B1-E9D8-C0F2943C2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44050" y="2771178"/>
            <a:ext cx="360000" cy="360000"/>
          </a:xfrm>
          <a:prstGeom prst="rect">
            <a:avLst/>
          </a:prstGeom>
        </p:spPr>
      </p:pic>
      <p:pic>
        <p:nvPicPr>
          <p:cNvPr id="59" name="Grafik 58" descr="Warenkorb Silhouette">
            <a:extLst>
              <a:ext uri="{FF2B5EF4-FFF2-40B4-BE49-F238E27FC236}">
                <a16:creationId xmlns:a16="http://schemas.microsoft.com/office/drawing/2014/main" id="{FD54DBAB-1975-1FA3-88FE-03DF968130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057" y="3126639"/>
            <a:ext cx="360000" cy="360000"/>
          </a:xfrm>
          <a:prstGeom prst="rect">
            <a:avLst/>
          </a:prstGeom>
        </p:spPr>
      </p:pic>
      <p:pic>
        <p:nvPicPr>
          <p:cNvPr id="61" name="Grafik 60" descr="Sackkarre Silhouette">
            <a:extLst>
              <a:ext uri="{FF2B5EF4-FFF2-40B4-BE49-F238E27FC236}">
                <a16:creationId xmlns:a16="http://schemas.microsoft.com/office/drawing/2014/main" id="{83E54B33-CE87-2F0C-C211-583926F96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057" y="6048222"/>
            <a:ext cx="360000" cy="360000"/>
          </a:xfrm>
          <a:prstGeom prst="rect">
            <a:avLst/>
          </a:prstGeom>
        </p:spPr>
      </p:pic>
      <p:pic>
        <p:nvPicPr>
          <p:cNvPr id="65" name="Grafik 64" descr="Einkaufstasche Silhouette">
            <a:extLst>
              <a:ext uri="{FF2B5EF4-FFF2-40B4-BE49-F238E27FC236}">
                <a16:creationId xmlns:a16="http://schemas.microsoft.com/office/drawing/2014/main" id="{25F812E2-150A-34DA-46B7-82322E3526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40540" y="3959151"/>
            <a:ext cx="360000" cy="360000"/>
          </a:xfrm>
          <a:prstGeom prst="rect">
            <a:avLst/>
          </a:prstGeom>
        </p:spPr>
      </p:pic>
      <p:pic>
        <p:nvPicPr>
          <p:cNvPr id="67" name="Grafik 66" descr="Einkaufstasche Silhouette">
            <a:extLst>
              <a:ext uri="{FF2B5EF4-FFF2-40B4-BE49-F238E27FC236}">
                <a16:creationId xmlns:a16="http://schemas.microsoft.com/office/drawing/2014/main" id="{096EB800-FAC4-D76C-AA4D-4E3525717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631" y="4997834"/>
            <a:ext cx="360000" cy="360000"/>
          </a:xfrm>
          <a:prstGeom prst="rect">
            <a:avLst/>
          </a:prstGeom>
        </p:spPr>
      </p:pic>
      <p:pic>
        <p:nvPicPr>
          <p:cNvPr id="69" name="Grafik 68" descr="Schachtel Silhouette">
            <a:extLst>
              <a:ext uri="{FF2B5EF4-FFF2-40B4-BE49-F238E27FC236}">
                <a16:creationId xmlns:a16="http://schemas.microsoft.com/office/drawing/2014/main" id="{0BC3EE50-0B3E-C3A7-5C36-BA8002359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3057" y="3660757"/>
            <a:ext cx="360000" cy="360000"/>
          </a:xfrm>
          <a:prstGeom prst="rect">
            <a:avLst/>
          </a:prstGeom>
        </p:spPr>
      </p:pic>
      <p:pic>
        <p:nvPicPr>
          <p:cNvPr id="71" name="Grafik 70" descr="Brotdose Silhouette">
            <a:extLst>
              <a:ext uri="{FF2B5EF4-FFF2-40B4-BE49-F238E27FC236}">
                <a16:creationId xmlns:a16="http://schemas.microsoft.com/office/drawing/2014/main" id="{7AF72FD9-1574-DC9C-ADED-9FDD163B9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631" y="4363481"/>
            <a:ext cx="360000" cy="360000"/>
          </a:xfrm>
          <a:prstGeom prst="rect">
            <a:avLst/>
          </a:prstGeom>
        </p:spPr>
      </p:pic>
      <p:pic>
        <p:nvPicPr>
          <p:cNvPr id="73" name="Grafik 72" descr="Monatskalender Silhouette">
            <a:extLst>
              <a:ext uri="{FF2B5EF4-FFF2-40B4-BE49-F238E27FC236}">
                <a16:creationId xmlns:a16="http://schemas.microsoft.com/office/drawing/2014/main" id="{B04BCC60-E1D4-9733-F3EE-088531FC1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40540" y="3358354"/>
            <a:ext cx="360000" cy="360000"/>
          </a:xfrm>
          <a:prstGeom prst="rect">
            <a:avLst/>
          </a:prstGeom>
        </p:spPr>
      </p:pic>
      <p:pic>
        <p:nvPicPr>
          <p:cNvPr id="81" name="Grafik 80" descr="Präsentation mit Balkendiagramm Silhouette">
            <a:extLst>
              <a:ext uri="{FF2B5EF4-FFF2-40B4-BE49-F238E27FC236}">
                <a16:creationId xmlns:a16="http://schemas.microsoft.com/office/drawing/2014/main" id="{764EFE29-EB2B-3B67-89D4-7AFB89022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40540" y="5994557"/>
            <a:ext cx="360000" cy="360000"/>
          </a:xfrm>
          <a:prstGeom prst="rect">
            <a:avLst/>
          </a:prstGeom>
        </p:spPr>
      </p:pic>
      <p:pic>
        <p:nvPicPr>
          <p:cNvPr id="83" name="Grafik 82" descr="Uhr Silhouette">
            <a:extLst>
              <a:ext uri="{FF2B5EF4-FFF2-40B4-BE49-F238E27FC236}">
                <a16:creationId xmlns:a16="http://schemas.microsoft.com/office/drawing/2014/main" id="{6DFC8F38-4999-EDFF-BC94-82F56EDCC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50074" y="5279486"/>
            <a:ext cx="360000" cy="360000"/>
          </a:xfrm>
          <a:prstGeom prst="rect">
            <a:avLst/>
          </a:prstGeom>
        </p:spPr>
      </p:pic>
      <p:pic>
        <p:nvPicPr>
          <p:cNvPr id="87" name="Grafik 86" descr="Kontinuierliche Verbesserung Silhouette">
            <a:extLst>
              <a:ext uri="{FF2B5EF4-FFF2-40B4-BE49-F238E27FC236}">
                <a16:creationId xmlns:a16="http://schemas.microsoft.com/office/drawing/2014/main" id="{B1533863-6CDF-C13F-CA6C-C4740C316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14073" y="4581714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59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58AAE7-0F74-48AF-C60E-21ECE745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Six relational tables connect Instacart’s order, product, and category data through unique identifiers to enable customer-level insights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D7AFA5B-A7D2-14F2-D03A-513497F6C166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CBB85556-5BE8-E578-CA52-ADD1C6E883DE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Data Model 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8F3A7439-46F3-C6C6-A73D-6CF82CD96253}"/>
              </a:ext>
            </a:extLst>
          </p:cNvPr>
          <p:cNvSpPr/>
          <p:nvPr/>
        </p:nvSpPr>
        <p:spPr>
          <a:xfrm>
            <a:off x="7946265" y="1102305"/>
            <a:ext cx="3915178" cy="3875382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600" b="1" dirty="0">
                <a:solidFill>
                  <a:schemeClr val="bg2">
                    <a:lumMod val="25000"/>
                  </a:schemeClr>
                </a:solidFill>
              </a:rPr>
              <a:t>Data Relationships</a:t>
            </a:r>
          </a:p>
        </p:txBody>
      </p:sp>
      <p:sp>
        <p:nvSpPr>
          <p:cNvPr id="95" name="Flussdiagramm: Verbinder 94">
            <a:extLst>
              <a:ext uri="{FF2B5EF4-FFF2-40B4-BE49-F238E27FC236}">
                <a16:creationId xmlns:a16="http://schemas.microsoft.com/office/drawing/2014/main" id="{CA355D90-4819-D98C-8ACA-E542049F1E87}"/>
              </a:ext>
            </a:extLst>
          </p:cNvPr>
          <p:cNvSpPr/>
          <p:nvPr/>
        </p:nvSpPr>
        <p:spPr>
          <a:xfrm>
            <a:off x="8049300" y="1711388"/>
            <a:ext cx="396000" cy="39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1</a:t>
            </a:r>
          </a:p>
        </p:txBody>
      </p:sp>
      <p:sp>
        <p:nvSpPr>
          <p:cNvPr id="97" name="Flussdiagramm: Verbinder 96">
            <a:extLst>
              <a:ext uri="{FF2B5EF4-FFF2-40B4-BE49-F238E27FC236}">
                <a16:creationId xmlns:a16="http://schemas.microsoft.com/office/drawing/2014/main" id="{209CBB58-B830-A0C4-31E6-27537B4CC0BF}"/>
              </a:ext>
            </a:extLst>
          </p:cNvPr>
          <p:cNvSpPr/>
          <p:nvPr/>
        </p:nvSpPr>
        <p:spPr>
          <a:xfrm>
            <a:off x="8049300" y="2456130"/>
            <a:ext cx="396000" cy="39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2</a:t>
            </a:r>
          </a:p>
        </p:txBody>
      </p:sp>
      <p:sp>
        <p:nvSpPr>
          <p:cNvPr id="99" name="Flussdiagramm: Verbinder 98">
            <a:extLst>
              <a:ext uri="{FF2B5EF4-FFF2-40B4-BE49-F238E27FC236}">
                <a16:creationId xmlns:a16="http://schemas.microsoft.com/office/drawing/2014/main" id="{7F9A4077-09C8-D4D6-9B68-35A2601C6F0E}"/>
              </a:ext>
            </a:extLst>
          </p:cNvPr>
          <p:cNvSpPr/>
          <p:nvPr/>
        </p:nvSpPr>
        <p:spPr>
          <a:xfrm>
            <a:off x="8049300" y="3148845"/>
            <a:ext cx="396000" cy="39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3</a:t>
            </a:r>
          </a:p>
        </p:txBody>
      </p:sp>
      <p:sp>
        <p:nvSpPr>
          <p:cNvPr id="101" name="Flussdiagramm: Verbinder 100">
            <a:extLst>
              <a:ext uri="{FF2B5EF4-FFF2-40B4-BE49-F238E27FC236}">
                <a16:creationId xmlns:a16="http://schemas.microsoft.com/office/drawing/2014/main" id="{BF7ECDC9-5FD7-4DAA-0931-B980FEF6780E}"/>
              </a:ext>
            </a:extLst>
          </p:cNvPr>
          <p:cNvSpPr/>
          <p:nvPr/>
        </p:nvSpPr>
        <p:spPr>
          <a:xfrm>
            <a:off x="8049300" y="3741012"/>
            <a:ext cx="396000" cy="39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4</a:t>
            </a:r>
          </a:p>
        </p:txBody>
      </p:sp>
      <p:sp>
        <p:nvSpPr>
          <p:cNvPr id="103" name="Flussdiagramm: Verbinder 102">
            <a:extLst>
              <a:ext uri="{FF2B5EF4-FFF2-40B4-BE49-F238E27FC236}">
                <a16:creationId xmlns:a16="http://schemas.microsoft.com/office/drawing/2014/main" id="{134FCE9D-04DE-403E-6523-2142B7CA8F47}"/>
              </a:ext>
            </a:extLst>
          </p:cNvPr>
          <p:cNvSpPr/>
          <p:nvPr/>
        </p:nvSpPr>
        <p:spPr>
          <a:xfrm>
            <a:off x="8049300" y="4359349"/>
            <a:ext cx="396000" cy="39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5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4B989D7-0742-36AF-CE4F-16FDE0D8FEBF}"/>
              </a:ext>
            </a:extLst>
          </p:cNvPr>
          <p:cNvSpPr txBox="1"/>
          <p:nvPr/>
        </p:nvSpPr>
        <p:spPr>
          <a:xfrm>
            <a:off x="8435661" y="1491459"/>
            <a:ext cx="3586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de-DE" sz="1200" b="1" i="1" dirty="0" err="1"/>
              <a:t>order_id</a:t>
            </a:r>
            <a:br>
              <a:rPr lang="de-DE" sz="1200" dirty="0"/>
            </a:br>
            <a:r>
              <a:rPr lang="de-DE" sz="1200" dirty="0"/>
              <a:t>Links </a:t>
            </a:r>
            <a:r>
              <a:rPr lang="de-DE" sz="1200" dirty="0" err="1"/>
              <a:t>orders</a:t>
            </a:r>
            <a:r>
              <a:rPr lang="de-DE" sz="1200" dirty="0"/>
              <a:t> to order-</a:t>
            </a:r>
            <a:r>
              <a:rPr lang="de-DE" sz="1200" dirty="0" err="1"/>
              <a:t>product</a:t>
            </a:r>
            <a:r>
              <a:rPr lang="de-DE" sz="1200" dirty="0"/>
              <a:t> </a:t>
            </a:r>
            <a:r>
              <a:rPr lang="de-DE" sz="1200" dirty="0" err="1"/>
              <a:t>records</a:t>
            </a:r>
            <a:r>
              <a:rPr lang="de-DE" sz="1200" dirty="0"/>
              <a:t> (</a:t>
            </a:r>
            <a:r>
              <a:rPr lang="de-DE" sz="1200" i="1" dirty="0"/>
              <a:t>order_</a:t>
            </a:r>
            <a:r>
              <a:rPr lang="de-DE" sz="1200" i="1" dirty="0" err="1"/>
              <a:t>products</a:t>
            </a:r>
            <a:r>
              <a:rPr lang="de-DE" sz="1200" i="1" dirty="0"/>
              <a:t>__</a:t>
            </a:r>
            <a:r>
              <a:rPr lang="de-DE" sz="1200" i="1" dirty="0" err="1"/>
              <a:t>prior</a:t>
            </a:r>
            <a:r>
              <a:rPr lang="de-DE" sz="1200" i="1" dirty="0"/>
              <a:t> </a:t>
            </a:r>
            <a:r>
              <a:rPr lang="de-DE" sz="1200" dirty="0"/>
              <a:t>and </a:t>
            </a:r>
            <a:r>
              <a:rPr lang="de-DE" sz="1200" i="1" dirty="0"/>
              <a:t>order_</a:t>
            </a:r>
            <a:r>
              <a:rPr lang="de-DE" sz="1200" i="1" dirty="0" err="1"/>
              <a:t>products</a:t>
            </a:r>
            <a:r>
              <a:rPr lang="de-DE" sz="1200" i="1" dirty="0"/>
              <a:t>__</a:t>
            </a:r>
            <a:r>
              <a:rPr lang="de-DE" sz="1200" i="1" dirty="0" err="1"/>
              <a:t>train</a:t>
            </a:r>
            <a:r>
              <a:rPr lang="de-DE" sz="1200" dirty="0"/>
              <a:t>)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E3A4BDBC-3249-BF6A-E76E-3261259AA053}"/>
              </a:ext>
            </a:extLst>
          </p:cNvPr>
          <p:cNvSpPr txBox="1"/>
          <p:nvPr/>
        </p:nvSpPr>
        <p:spPr>
          <a:xfrm>
            <a:off x="8435661" y="2277660"/>
            <a:ext cx="342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 err="1"/>
              <a:t>product_id</a:t>
            </a:r>
            <a:br>
              <a:rPr lang="de-DE" sz="1200" b="1" dirty="0"/>
            </a:br>
            <a:r>
              <a:rPr lang="de-DE" sz="1200" dirty="0"/>
              <a:t>Links order-</a:t>
            </a:r>
            <a:r>
              <a:rPr lang="de-DE" sz="1200" dirty="0" err="1"/>
              <a:t>product</a:t>
            </a:r>
            <a:r>
              <a:rPr lang="de-DE" sz="1200" dirty="0"/>
              <a:t> </a:t>
            </a:r>
            <a:r>
              <a:rPr lang="de-DE" sz="1200" dirty="0" err="1"/>
              <a:t>records</a:t>
            </a:r>
            <a:r>
              <a:rPr lang="de-DE" sz="1200" dirty="0"/>
              <a:t> to </a:t>
            </a:r>
            <a:r>
              <a:rPr lang="de-DE" sz="1200" dirty="0" err="1"/>
              <a:t>product</a:t>
            </a:r>
            <a:r>
              <a:rPr lang="de-DE" sz="1200" dirty="0"/>
              <a:t> </a:t>
            </a:r>
            <a:r>
              <a:rPr lang="de-DE" sz="1200" dirty="0" err="1"/>
              <a:t>information</a:t>
            </a:r>
            <a:r>
              <a:rPr lang="de-DE" sz="1200" dirty="0"/>
              <a:t> in </a:t>
            </a:r>
            <a:r>
              <a:rPr lang="de-DE" sz="1200" i="1" dirty="0" err="1"/>
              <a:t>products</a:t>
            </a:r>
            <a:endParaRPr lang="de-DE" sz="1200" i="1" dirty="0"/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A6944D3F-B9CB-035D-8F0A-99F14809D4CE}"/>
              </a:ext>
            </a:extLst>
          </p:cNvPr>
          <p:cNvSpPr txBox="1"/>
          <p:nvPr/>
        </p:nvSpPr>
        <p:spPr>
          <a:xfrm>
            <a:off x="8435661" y="3063861"/>
            <a:ext cx="3425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 err="1"/>
              <a:t>aisle_id</a:t>
            </a:r>
            <a:br>
              <a:rPr lang="de-DE" sz="1200" dirty="0"/>
            </a:br>
            <a:r>
              <a:rPr lang="de-DE" sz="1200" dirty="0"/>
              <a:t>Links </a:t>
            </a:r>
            <a:r>
              <a:rPr lang="de-DE" sz="1200" dirty="0" err="1"/>
              <a:t>products</a:t>
            </a:r>
            <a:r>
              <a:rPr lang="de-DE" sz="1200" dirty="0"/>
              <a:t> to </a:t>
            </a:r>
            <a:r>
              <a:rPr lang="de-DE" sz="1200" i="1" dirty="0" err="1"/>
              <a:t>aisles</a:t>
            </a:r>
            <a:endParaRPr lang="de-DE" sz="1200" i="1" dirty="0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27669661-A12F-C882-3E86-ABA704135667}"/>
              </a:ext>
            </a:extLst>
          </p:cNvPr>
          <p:cNvSpPr txBox="1"/>
          <p:nvPr/>
        </p:nvSpPr>
        <p:spPr>
          <a:xfrm>
            <a:off x="8435661" y="3665396"/>
            <a:ext cx="3425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 err="1"/>
              <a:t>department_id</a:t>
            </a:r>
            <a:br>
              <a:rPr lang="de-DE" sz="1200" dirty="0"/>
            </a:br>
            <a:r>
              <a:rPr lang="de-DE" sz="1200" dirty="0"/>
              <a:t>Links </a:t>
            </a:r>
            <a:r>
              <a:rPr lang="de-DE" sz="1200" dirty="0" err="1"/>
              <a:t>products</a:t>
            </a:r>
            <a:r>
              <a:rPr lang="de-DE" sz="1200" dirty="0"/>
              <a:t> to </a:t>
            </a:r>
            <a:r>
              <a:rPr lang="de-DE" sz="1200" dirty="0" err="1"/>
              <a:t>departments</a:t>
            </a:r>
            <a:endParaRPr lang="de-DE" sz="1200" i="1" dirty="0"/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24742D70-E847-FC2D-3637-02E0738C4B9C}"/>
              </a:ext>
            </a:extLst>
          </p:cNvPr>
          <p:cNvSpPr txBox="1"/>
          <p:nvPr/>
        </p:nvSpPr>
        <p:spPr>
          <a:xfrm>
            <a:off x="8435661" y="4266931"/>
            <a:ext cx="342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 err="1"/>
              <a:t>user_id</a:t>
            </a:r>
            <a:br>
              <a:rPr lang="de-DE" sz="1200" dirty="0"/>
            </a:br>
            <a:r>
              <a:rPr lang="de-DE" sz="1200" dirty="0" err="1"/>
              <a:t>Identifies</a:t>
            </a:r>
            <a:r>
              <a:rPr lang="de-DE" sz="1200" dirty="0"/>
              <a:t> individual </a:t>
            </a:r>
            <a:r>
              <a:rPr lang="de-DE" sz="1200" dirty="0" err="1"/>
              <a:t>customers</a:t>
            </a:r>
            <a:r>
              <a:rPr lang="de-DE" sz="1200" dirty="0"/>
              <a:t> (</a:t>
            </a:r>
            <a:r>
              <a:rPr lang="de-DE" sz="1200" dirty="0" err="1"/>
              <a:t>contained</a:t>
            </a:r>
            <a:r>
              <a:rPr lang="de-DE" sz="1200" dirty="0"/>
              <a:t> in </a:t>
            </a:r>
            <a:r>
              <a:rPr lang="de-DE" sz="1200" i="1" dirty="0" err="1"/>
              <a:t>orders</a:t>
            </a:r>
            <a:r>
              <a:rPr lang="de-DE" sz="1200" dirty="0"/>
              <a:t>)</a:t>
            </a:r>
            <a:endParaRPr lang="de-DE" sz="1200" i="1" dirty="0"/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6AE9729B-EB45-4F1F-561F-1E003CF55945}"/>
              </a:ext>
            </a:extLst>
          </p:cNvPr>
          <p:cNvSpPr/>
          <p:nvPr/>
        </p:nvSpPr>
        <p:spPr>
          <a:xfrm>
            <a:off x="328410" y="5034925"/>
            <a:ext cx="11533029" cy="329138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Analytical Flow (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from</a:t>
            </a:r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raw</a:t>
            </a:r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data</a:t>
            </a:r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to 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insights</a:t>
            </a:r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29DB8D4A-FB12-5EFB-CC23-287F96C73608}"/>
              </a:ext>
            </a:extLst>
          </p:cNvPr>
          <p:cNvSpPr/>
          <p:nvPr/>
        </p:nvSpPr>
        <p:spPr>
          <a:xfrm>
            <a:off x="3136005" y="1384067"/>
            <a:ext cx="1938271" cy="1175349"/>
          </a:xfrm>
          <a:prstGeom prst="rect">
            <a:avLst/>
          </a:prstGeom>
          <a:solidFill>
            <a:srgbClr val="EFF9EB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PK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order_id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user_id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eval_set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order_number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order_dow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order_hour_of_day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days_since_prior_order</a:t>
            </a:r>
            <a:endParaRPr lang="de-DE" sz="1000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5945918C-EB69-B0AA-6145-8A1716CC25F6}"/>
              </a:ext>
            </a:extLst>
          </p:cNvPr>
          <p:cNvSpPr/>
          <p:nvPr/>
        </p:nvSpPr>
        <p:spPr>
          <a:xfrm>
            <a:off x="3136004" y="1098851"/>
            <a:ext cx="1938271" cy="285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 err="1">
                <a:solidFill>
                  <a:schemeClr val="bg2">
                    <a:lumMod val="25000"/>
                  </a:schemeClr>
                </a:solidFill>
              </a:rPr>
              <a:t>orders</a:t>
            </a:r>
            <a:endParaRPr lang="de-DE" sz="1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91B06EB9-3569-7441-53B8-30096FD3F50A}"/>
              </a:ext>
            </a:extLst>
          </p:cNvPr>
          <p:cNvSpPr/>
          <p:nvPr/>
        </p:nvSpPr>
        <p:spPr>
          <a:xfrm>
            <a:off x="412122" y="2681348"/>
            <a:ext cx="1938271" cy="637724"/>
          </a:xfrm>
          <a:prstGeom prst="rect">
            <a:avLst/>
          </a:prstGeom>
          <a:solidFill>
            <a:srgbClr val="FDF3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PK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order_id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PK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product_id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sz="1000" i="1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en-US" sz="1000" i="1" dirty="0">
                <a:solidFill>
                  <a:schemeClr val="bg2">
                    <a:lumMod val="25000"/>
                  </a:schemeClr>
                </a:solidFill>
              </a:rPr>
              <a:t>                </a:t>
            </a:r>
            <a:r>
              <a:rPr lang="en-US" sz="1000" i="1" dirty="0" err="1">
                <a:solidFill>
                  <a:schemeClr val="bg2">
                    <a:lumMod val="25000"/>
                  </a:schemeClr>
                </a:solidFill>
              </a:rPr>
              <a:t>add_to_cart_order</a:t>
            </a:r>
            <a:r>
              <a:rPr lang="en-US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en-US" sz="1000" i="1" dirty="0">
                <a:solidFill>
                  <a:schemeClr val="bg2">
                    <a:lumMod val="25000"/>
                  </a:schemeClr>
                </a:solidFill>
              </a:rPr>
              <a:t>                reordered</a:t>
            </a:r>
          </a:p>
        </p:txBody>
      </p:sp>
      <p:sp>
        <p:nvSpPr>
          <p:cNvPr id="126" name="Rechteck 125">
            <a:extLst>
              <a:ext uri="{FF2B5EF4-FFF2-40B4-BE49-F238E27FC236}">
                <a16:creationId xmlns:a16="http://schemas.microsoft.com/office/drawing/2014/main" id="{8E0556DB-31B7-C637-9D65-6D2355EAF7CC}"/>
              </a:ext>
            </a:extLst>
          </p:cNvPr>
          <p:cNvSpPr/>
          <p:nvPr/>
        </p:nvSpPr>
        <p:spPr>
          <a:xfrm>
            <a:off x="412121" y="2396131"/>
            <a:ext cx="1938271" cy="285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order_</a:t>
            </a:r>
            <a:r>
              <a:rPr lang="de-DE" sz="1000" b="1" dirty="0" err="1">
                <a:solidFill>
                  <a:schemeClr val="bg2">
                    <a:lumMod val="25000"/>
                  </a:schemeClr>
                </a:solidFill>
              </a:rPr>
              <a:t>products</a:t>
            </a:r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__</a:t>
            </a:r>
            <a:r>
              <a:rPr lang="de-DE" sz="1000" b="1" dirty="0" err="1">
                <a:solidFill>
                  <a:schemeClr val="bg2">
                    <a:lumMod val="25000"/>
                  </a:schemeClr>
                </a:solidFill>
              </a:rPr>
              <a:t>prior</a:t>
            </a:r>
            <a:endParaRPr lang="de-DE" sz="1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53699BB3-D6C4-E02A-C252-EFD37476D6D8}"/>
              </a:ext>
            </a:extLst>
          </p:cNvPr>
          <p:cNvSpPr/>
          <p:nvPr/>
        </p:nvSpPr>
        <p:spPr>
          <a:xfrm>
            <a:off x="5760891" y="2677668"/>
            <a:ext cx="1938271" cy="637724"/>
          </a:xfrm>
          <a:prstGeom prst="rect">
            <a:avLst/>
          </a:prstGeom>
          <a:solidFill>
            <a:srgbClr val="FDF3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PK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order_id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PK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product_id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sz="1000" i="1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en-US" sz="1000" i="1" dirty="0">
                <a:solidFill>
                  <a:schemeClr val="bg2">
                    <a:lumMod val="25000"/>
                  </a:schemeClr>
                </a:solidFill>
              </a:rPr>
              <a:t>                </a:t>
            </a:r>
            <a:r>
              <a:rPr lang="en-US" sz="1000" i="1" dirty="0" err="1">
                <a:solidFill>
                  <a:schemeClr val="bg2">
                    <a:lumMod val="25000"/>
                  </a:schemeClr>
                </a:solidFill>
              </a:rPr>
              <a:t>add_to_cart_order</a:t>
            </a:r>
            <a:r>
              <a:rPr lang="en-US" sz="1000" i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lvl="0"/>
            <a:r>
              <a:rPr lang="en-US" sz="1000" i="1" dirty="0">
                <a:solidFill>
                  <a:schemeClr val="bg2">
                    <a:lumMod val="25000"/>
                  </a:schemeClr>
                </a:solidFill>
              </a:rPr>
              <a:t>                reordered</a:t>
            </a:r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47636982-23A5-B486-9450-E6DF39FE21C6}"/>
              </a:ext>
            </a:extLst>
          </p:cNvPr>
          <p:cNvSpPr/>
          <p:nvPr/>
        </p:nvSpPr>
        <p:spPr>
          <a:xfrm>
            <a:off x="5760890" y="2392451"/>
            <a:ext cx="1938271" cy="285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order_</a:t>
            </a:r>
            <a:r>
              <a:rPr lang="de-DE" sz="1000" b="1" dirty="0" err="1">
                <a:solidFill>
                  <a:schemeClr val="bg2">
                    <a:lumMod val="25000"/>
                  </a:schemeClr>
                </a:solidFill>
              </a:rPr>
              <a:t>products</a:t>
            </a:r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__</a:t>
            </a:r>
            <a:r>
              <a:rPr lang="de-DE" sz="1000" b="1" dirty="0" err="1">
                <a:solidFill>
                  <a:schemeClr val="bg2">
                    <a:lumMod val="25000"/>
                  </a:schemeClr>
                </a:solidFill>
              </a:rPr>
              <a:t>train</a:t>
            </a:r>
            <a:endParaRPr lang="de-DE" sz="1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hteck 136">
            <a:extLst>
              <a:ext uri="{FF2B5EF4-FFF2-40B4-BE49-F238E27FC236}">
                <a16:creationId xmlns:a16="http://schemas.microsoft.com/office/drawing/2014/main" id="{906CA64F-C448-D5E4-2265-C158E167DABB}"/>
              </a:ext>
            </a:extLst>
          </p:cNvPr>
          <p:cNvSpPr/>
          <p:nvPr/>
        </p:nvSpPr>
        <p:spPr>
          <a:xfrm>
            <a:off x="412122" y="4233915"/>
            <a:ext cx="1938271" cy="402478"/>
          </a:xfrm>
          <a:prstGeom prst="rect">
            <a:avLst/>
          </a:prstGeom>
          <a:solidFill>
            <a:srgbClr val="E7F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PK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aisle_id</a:t>
            </a:r>
            <a:endParaRPr lang="de-DE" sz="1000" i="1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de-DE" sz="1000" b="1" i="1" dirty="0">
                <a:solidFill>
                  <a:schemeClr val="bg2">
                    <a:lumMod val="25000"/>
                  </a:schemeClr>
                </a:solidFill>
              </a:rPr>
              <a:t>      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aisle</a:t>
            </a:r>
            <a:endParaRPr lang="en-US" sz="1000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EC0355CF-6BA4-B003-C56A-DB843430D9A1}"/>
              </a:ext>
            </a:extLst>
          </p:cNvPr>
          <p:cNvSpPr/>
          <p:nvPr/>
        </p:nvSpPr>
        <p:spPr>
          <a:xfrm>
            <a:off x="412121" y="3948698"/>
            <a:ext cx="1938271" cy="285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 err="1">
                <a:solidFill>
                  <a:schemeClr val="bg2">
                    <a:lumMod val="25000"/>
                  </a:schemeClr>
                </a:solidFill>
              </a:rPr>
              <a:t>aisles</a:t>
            </a:r>
            <a:endParaRPr lang="de-DE" sz="1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7734FCF7-9F3F-00D5-7F97-D15C58E78884}"/>
              </a:ext>
            </a:extLst>
          </p:cNvPr>
          <p:cNvSpPr/>
          <p:nvPr/>
        </p:nvSpPr>
        <p:spPr>
          <a:xfrm>
            <a:off x="5762494" y="4266931"/>
            <a:ext cx="1938271" cy="402478"/>
          </a:xfrm>
          <a:prstGeom prst="rect">
            <a:avLst/>
          </a:prstGeom>
          <a:solidFill>
            <a:srgbClr val="E7F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PK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department_id</a:t>
            </a:r>
            <a:endParaRPr lang="de-DE" sz="1000" i="1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de-DE" sz="1000" b="1" i="1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department</a:t>
            </a:r>
            <a:endParaRPr lang="en-US" sz="1000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CA33F8A2-C40D-FA64-670D-2002A1A6461D}"/>
              </a:ext>
            </a:extLst>
          </p:cNvPr>
          <p:cNvSpPr/>
          <p:nvPr/>
        </p:nvSpPr>
        <p:spPr>
          <a:xfrm>
            <a:off x="5762493" y="3981714"/>
            <a:ext cx="1938271" cy="285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 err="1">
                <a:solidFill>
                  <a:schemeClr val="bg2">
                    <a:lumMod val="25000"/>
                  </a:schemeClr>
                </a:solidFill>
              </a:rPr>
              <a:t>departments</a:t>
            </a:r>
            <a:endParaRPr lang="de-DE" sz="1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06FE5564-FD0E-E180-F927-CE99E812782E}"/>
              </a:ext>
            </a:extLst>
          </p:cNvPr>
          <p:cNvSpPr/>
          <p:nvPr/>
        </p:nvSpPr>
        <p:spPr>
          <a:xfrm>
            <a:off x="3136005" y="3496590"/>
            <a:ext cx="1938271" cy="74367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sz="1000" b="1" dirty="0">
                <a:solidFill>
                  <a:schemeClr val="bg2">
                    <a:lumMod val="25000"/>
                  </a:schemeClr>
                </a:solidFill>
              </a:rPr>
              <a:t>PK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>
                <a:solidFill>
                  <a:schemeClr val="bg2">
                    <a:lumMod val="25000"/>
                  </a:schemeClr>
                </a:solidFill>
              </a:rPr>
              <a:t>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product_id</a:t>
            </a:r>
            <a:endParaRPr lang="de-DE" sz="1000" i="1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de-DE" sz="1000" b="1" i="1" dirty="0">
                <a:solidFill>
                  <a:schemeClr val="bg2">
                    <a:lumMod val="25000"/>
                  </a:schemeClr>
                </a:solidFill>
              </a:rPr>
              <a:t>                </a:t>
            </a:r>
            <a:r>
              <a:rPr lang="de-DE" sz="1000" i="1" dirty="0" err="1">
                <a:solidFill>
                  <a:schemeClr val="bg2">
                    <a:lumMod val="25000"/>
                  </a:schemeClr>
                </a:solidFill>
              </a:rPr>
              <a:t>product_name</a:t>
            </a:r>
            <a:endParaRPr lang="de-DE" sz="1000" i="1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en-US" sz="1000" b="1" i="1" dirty="0">
                <a:solidFill>
                  <a:schemeClr val="bg2">
                    <a:lumMod val="25000"/>
                  </a:schemeClr>
                </a:solidFill>
              </a:rPr>
              <a:t>FK</a:t>
            </a:r>
            <a:r>
              <a:rPr lang="en-US" sz="1000" i="1" dirty="0">
                <a:solidFill>
                  <a:schemeClr val="bg2">
                    <a:lumMod val="25000"/>
                  </a:schemeClr>
                </a:solidFill>
              </a:rPr>
              <a:t>          </a:t>
            </a:r>
            <a:r>
              <a:rPr lang="en-US" sz="1000" i="1" dirty="0" err="1">
                <a:solidFill>
                  <a:schemeClr val="bg2">
                    <a:lumMod val="25000"/>
                  </a:schemeClr>
                </a:solidFill>
              </a:rPr>
              <a:t>aisle_id</a:t>
            </a:r>
            <a:endParaRPr lang="en-US" sz="1000" i="1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en-US" sz="1000" b="1" i="1" dirty="0">
                <a:solidFill>
                  <a:schemeClr val="bg2">
                    <a:lumMod val="25000"/>
                  </a:schemeClr>
                </a:solidFill>
              </a:rPr>
              <a:t>FK </a:t>
            </a:r>
            <a:r>
              <a:rPr lang="en-US" sz="1000" i="1" dirty="0">
                <a:solidFill>
                  <a:schemeClr val="bg2">
                    <a:lumMod val="25000"/>
                  </a:schemeClr>
                </a:solidFill>
              </a:rPr>
              <a:t>         </a:t>
            </a:r>
            <a:r>
              <a:rPr lang="en-US" sz="1000" i="1" dirty="0" err="1">
                <a:solidFill>
                  <a:schemeClr val="bg2">
                    <a:lumMod val="25000"/>
                  </a:schemeClr>
                </a:solidFill>
              </a:rPr>
              <a:t>department_id</a:t>
            </a:r>
            <a:endParaRPr lang="en-US" sz="1000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4381DB7A-082A-CCFF-9F82-CEFB50DAC16D}"/>
              </a:ext>
            </a:extLst>
          </p:cNvPr>
          <p:cNvSpPr/>
          <p:nvPr/>
        </p:nvSpPr>
        <p:spPr>
          <a:xfrm>
            <a:off x="3136004" y="3211374"/>
            <a:ext cx="1938271" cy="2852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 err="1">
                <a:solidFill>
                  <a:schemeClr val="bg2">
                    <a:lumMod val="25000"/>
                  </a:schemeClr>
                </a:solidFill>
              </a:rPr>
              <a:t>products</a:t>
            </a:r>
            <a:endParaRPr lang="de-DE" sz="1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51" name="Verbinder: gewinkelt 150">
            <a:extLst>
              <a:ext uri="{FF2B5EF4-FFF2-40B4-BE49-F238E27FC236}">
                <a16:creationId xmlns:a16="http://schemas.microsoft.com/office/drawing/2014/main" id="{89CE6385-6A29-780A-60D6-104154ADB115}"/>
              </a:ext>
            </a:extLst>
          </p:cNvPr>
          <p:cNvCxnSpPr>
            <a:stCxn id="126" idx="0"/>
          </p:cNvCxnSpPr>
          <p:nvPr/>
        </p:nvCxnSpPr>
        <p:spPr>
          <a:xfrm rot="5400000" flipH="1" flipV="1">
            <a:off x="1806294" y="1066422"/>
            <a:ext cx="904672" cy="1754747"/>
          </a:xfrm>
          <a:prstGeom prst="bentConnector2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Verbinder: gewinkelt 152">
            <a:extLst>
              <a:ext uri="{FF2B5EF4-FFF2-40B4-BE49-F238E27FC236}">
                <a16:creationId xmlns:a16="http://schemas.microsoft.com/office/drawing/2014/main" id="{DDE34ADB-11DD-9ABE-4B37-3C21A86468C7}"/>
              </a:ext>
            </a:extLst>
          </p:cNvPr>
          <p:cNvCxnSpPr>
            <a:endCxn id="135" idx="0"/>
          </p:cNvCxnSpPr>
          <p:nvPr/>
        </p:nvCxnSpPr>
        <p:spPr>
          <a:xfrm>
            <a:off x="5074275" y="1491459"/>
            <a:ext cx="1655751" cy="900992"/>
          </a:xfrm>
          <a:prstGeom prst="bentConnector2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Textfeld 153">
            <a:extLst>
              <a:ext uri="{FF2B5EF4-FFF2-40B4-BE49-F238E27FC236}">
                <a16:creationId xmlns:a16="http://schemas.microsoft.com/office/drawing/2014/main" id="{92E0A2B7-3203-315C-568A-10747C8066C8}"/>
              </a:ext>
            </a:extLst>
          </p:cNvPr>
          <p:cNvSpPr txBox="1"/>
          <p:nvPr/>
        </p:nvSpPr>
        <p:spPr>
          <a:xfrm>
            <a:off x="1085044" y="2137789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M</a:t>
            </a: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50E731D6-04AD-FF2F-9051-5C6BFE2D798F}"/>
              </a:ext>
            </a:extLst>
          </p:cNvPr>
          <p:cNvSpPr txBox="1"/>
          <p:nvPr/>
        </p:nvSpPr>
        <p:spPr>
          <a:xfrm>
            <a:off x="6732836" y="2135677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M</a:t>
            </a:r>
          </a:p>
        </p:txBody>
      </p:sp>
      <p:sp>
        <p:nvSpPr>
          <p:cNvPr id="158" name="Textfeld 157">
            <a:extLst>
              <a:ext uri="{FF2B5EF4-FFF2-40B4-BE49-F238E27FC236}">
                <a16:creationId xmlns:a16="http://schemas.microsoft.com/office/drawing/2014/main" id="{35C7D19B-587C-BE7F-4E58-4D45B298487E}"/>
              </a:ext>
            </a:extLst>
          </p:cNvPr>
          <p:cNvSpPr txBox="1"/>
          <p:nvPr/>
        </p:nvSpPr>
        <p:spPr>
          <a:xfrm>
            <a:off x="2854644" y="1206243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1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5C3CC75D-3B79-7B72-646C-14AC4AC52DAD}"/>
              </a:ext>
            </a:extLst>
          </p:cNvPr>
          <p:cNvSpPr txBox="1"/>
          <p:nvPr/>
        </p:nvSpPr>
        <p:spPr>
          <a:xfrm>
            <a:off x="5065418" y="1206242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1</a:t>
            </a:r>
          </a:p>
        </p:txBody>
      </p:sp>
      <p:cxnSp>
        <p:nvCxnSpPr>
          <p:cNvPr id="162" name="Verbinder: gewinkelt 161">
            <a:extLst>
              <a:ext uri="{FF2B5EF4-FFF2-40B4-BE49-F238E27FC236}">
                <a16:creationId xmlns:a16="http://schemas.microsoft.com/office/drawing/2014/main" id="{897EB717-3315-AEB6-3856-BB554117A4B0}"/>
              </a:ext>
            </a:extLst>
          </p:cNvPr>
          <p:cNvCxnSpPr>
            <a:stCxn id="124" idx="2"/>
          </p:cNvCxnSpPr>
          <p:nvPr/>
        </p:nvCxnSpPr>
        <p:spPr>
          <a:xfrm rot="16200000" flipH="1">
            <a:off x="2115124" y="2585206"/>
            <a:ext cx="287015" cy="1754746"/>
          </a:xfrm>
          <a:prstGeom prst="bentConnector2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Verbinder: gewinkelt 163">
            <a:extLst>
              <a:ext uri="{FF2B5EF4-FFF2-40B4-BE49-F238E27FC236}">
                <a16:creationId xmlns:a16="http://schemas.microsoft.com/office/drawing/2014/main" id="{6D8A0EE9-8FD9-B6AA-D40E-3CD1918033F8}"/>
              </a:ext>
            </a:extLst>
          </p:cNvPr>
          <p:cNvCxnSpPr>
            <a:stCxn id="133" idx="2"/>
          </p:cNvCxnSpPr>
          <p:nvPr/>
        </p:nvCxnSpPr>
        <p:spPr>
          <a:xfrm rot="5400000">
            <a:off x="5753275" y="2627536"/>
            <a:ext cx="288896" cy="1664609"/>
          </a:xfrm>
          <a:prstGeom prst="bentConnector2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Textfeld 165">
            <a:extLst>
              <a:ext uri="{FF2B5EF4-FFF2-40B4-BE49-F238E27FC236}">
                <a16:creationId xmlns:a16="http://schemas.microsoft.com/office/drawing/2014/main" id="{6C82237C-1B1E-A4EB-BE7E-BFB97D4586BC}"/>
              </a:ext>
            </a:extLst>
          </p:cNvPr>
          <p:cNvSpPr txBox="1"/>
          <p:nvPr/>
        </p:nvSpPr>
        <p:spPr>
          <a:xfrm>
            <a:off x="1087854" y="3296882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M</a:t>
            </a:r>
          </a:p>
        </p:txBody>
      </p:sp>
      <p:sp>
        <p:nvSpPr>
          <p:cNvPr id="168" name="Textfeld 167">
            <a:extLst>
              <a:ext uri="{FF2B5EF4-FFF2-40B4-BE49-F238E27FC236}">
                <a16:creationId xmlns:a16="http://schemas.microsoft.com/office/drawing/2014/main" id="{FB903D60-DD9E-29EA-7D14-02BE0727569F}"/>
              </a:ext>
            </a:extLst>
          </p:cNvPr>
          <p:cNvSpPr txBox="1"/>
          <p:nvPr/>
        </p:nvSpPr>
        <p:spPr>
          <a:xfrm>
            <a:off x="6732836" y="3287291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M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A52D4DD0-78DA-8967-4A42-14477A201F86}"/>
              </a:ext>
            </a:extLst>
          </p:cNvPr>
          <p:cNvSpPr txBox="1"/>
          <p:nvPr/>
        </p:nvSpPr>
        <p:spPr>
          <a:xfrm>
            <a:off x="5062610" y="3344426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1</a:t>
            </a:r>
          </a:p>
        </p:txBody>
      </p:sp>
      <p:sp>
        <p:nvSpPr>
          <p:cNvPr id="174" name="Textfeld 173">
            <a:extLst>
              <a:ext uri="{FF2B5EF4-FFF2-40B4-BE49-F238E27FC236}">
                <a16:creationId xmlns:a16="http://schemas.microsoft.com/office/drawing/2014/main" id="{7ABC8EAA-3052-2181-A466-00711178420D}"/>
              </a:ext>
            </a:extLst>
          </p:cNvPr>
          <p:cNvSpPr txBox="1"/>
          <p:nvPr/>
        </p:nvSpPr>
        <p:spPr>
          <a:xfrm>
            <a:off x="2867159" y="3336729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1</a:t>
            </a:r>
          </a:p>
        </p:txBody>
      </p:sp>
      <p:cxnSp>
        <p:nvCxnSpPr>
          <p:cNvPr id="176" name="Verbinder: gewinkelt 175">
            <a:extLst>
              <a:ext uri="{FF2B5EF4-FFF2-40B4-BE49-F238E27FC236}">
                <a16:creationId xmlns:a16="http://schemas.microsoft.com/office/drawing/2014/main" id="{D30EEA04-D727-ED96-5DFA-A2A19A3DC963}"/>
              </a:ext>
            </a:extLst>
          </p:cNvPr>
          <p:cNvCxnSpPr>
            <a:endCxn id="139" idx="0"/>
          </p:cNvCxnSpPr>
          <p:nvPr/>
        </p:nvCxnSpPr>
        <p:spPr>
          <a:xfrm rot="10800000" flipV="1">
            <a:off x="1381258" y="3741012"/>
            <a:ext cx="1754747" cy="207686"/>
          </a:xfrm>
          <a:prstGeom prst="bentConnector2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8" name="Textfeld 177">
            <a:extLst>
              <a:ext uri="{FF2B5EF4-FFF2-40B4-BE49-F238E27FC236}">
                <a16:creationId xmlns:a16="http://schemas.microsoft.com/office/drawing/2014/main" id="{6A5142CE-813C-E9E4-C8AE-71E1ED8E7F45}"/>
              </a:ext>
            </a:extLst>
          </p:cNvPr>
          <p:cNvSpPr txBox="1"/>
          <p:nvPr/>
        </p:nvSpPr>
        <p:spPr>
          <a:xfrm>
            <a:off x="1085044" y="3724667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M</a:t>
            </a: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52C4BCFA-386C-B53A-D7C5-87636FBD6610}"/>
              </a:ext>
            </a:extLst>
          </p:cNvPr>
          <p:cNvSpPr txBox="1"/>
          <p:nvPr/>
        </p:nvSpPr>
        <p:spPr>
          <a:xfrm>
            <a:off x="1376015" y="3724667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1</a:t>
            </a:r>
          </a:p>
        </p:txBody>
      </p:sp>
      <p:cxnSp>
        <p:nvCxnSpPr>
          <p:cNvPr id="182" name="Verbinder: gewinkelt 181">
            <a:extLst>
              <a:ext uri="{FF2B5EF4-FFF2-40B4-BE49-F238E27FC236}">
                <a16:creationId xmlns:a16="http://schemas.microsoft.com/office/drawing/2014/main" id="{63AA441A-6DE6-8FFC-E80C-E6C256E71410}"/>
              </a:ext>
            </a:extLst>
          </p:cNvPr>
          <p:cNvCxnSpPr>
            <a:endCxn id="143" idx="0"/>
          </p:cNvCxnSpPr>
          <p:nvPr/>
        </p:nvCxnSpPr>
        <p:spPr>
          <a:xfrm>
            <a:off x="5074275" y="3741012"/>
            <a:ext cx="1657354" cy="240702"/>
          </a:xfrm>
          <a:prstGeom prst="bentConnector2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" name="Textfeld 183">
            <a:extLst>
              <a:ext uri="{FF2B5EF4-FFF2-40B4-BE49-F238E27FC236}">
                <a16:creationId xmlns:a16="http://schemas.microsoft.com/office/drawing/2014/main" id="{AB3F754E-3042-507A-D9C7-94D17A4B6A42}"/>
              </a:ext>
            </a:extLst>
          </p:cNvPr>
          <p:cNvSpPr txBox="1"/>
          <p:nvPr/>
        </p:nvSpPr>
        <p:spPr>
          <a:xfrm>
            <a:off x="6441865" y="3763594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1</a:t>
            </a:r>
          </a:p>
        </p:txBody>
      </p:sp>
      <p:sp>
        <p:nvSpPr>
          <p:cNvPr id="186" name="Textfeld 185">
            <a:extLst>
              <a:ext uri="{FF2B5EF4-FFF2-40B4-BE49-F238E27FC236}">
                <a16:creationId xmlns:a16="http://schemas.microsoft.com/office/drawing/2014/main" id="{FEB80464-4B4D-40E1-57DE-6CBC3DD5C537}"/>
              </a:ext>
            </a:extLst>
          </p:cNvPr>
          <p:cNvSpPr txBox="1"/>
          <p:nvPr/>
        </p:nvSpPr>
        <p:spPr>
          <a:xfrm>
            <a:off x="6732836" y="3763594"/>
            <a:ext cx="21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M</a:t>
            </a:r>
          </a:p>
        </p:txBody>
      </p:sp>
      <p:sp>
        <p:nvSpPr>
          <p:cNvPr id="188" name="Pfeil: Fünfeck 187">
            <a:extLst>
              <a:ext uri="{FF2B5EF4-FFF2-40B4-BE49-F238E27FC236}">
                <a16:creationId xmlns:a16="http://schemas.microsoft.com/office/drawing/2014/main" id="{87B24AFF-7090-A395-D2F8-6B43D1E95DC4}"/>
              </a:ext>
            </a:extLst>
          </p:cNvPr>
          <p:cNvSpPr/>
          <p:nvPr/>
        </p:nvSpPr>
        <p:spPr>
          <a:xfrm>
            <a:off x="328410" y="5428447"/>
            <a:ext cx="1800000" cy="504000"/>
          </a:xfrm>
          <a:prstGeom prst="homePlate">
            <a:avLst/>
          </a:prstGeom>
          <a:solidFill>
            <a:srgbClr val="D9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</a:rPr>
              <a:t>Raw </a:t>
            </a:r>
            <a:r>
              <a:rPr lang="de-DE" sz="1100" b="1" dirty="0" err="1">
                <a:solidFill>
                  <a:schemeClr val="tx1"/>
                </a:solidFill>
              </a:rPr>
              <a:t>order</a:t>
            </a:r>
            <a:r>
              <a:rPr lang="de-DE" sz="1100" b="1" dirty="0">
                <a:solidFill>
                  <a:schemeClr val="tx1"/>
                </a:solidFill>
              </a:rPr>
              <a:t> and </a:t>
            </a:r>
            <a:r>
              <a:rPr lang="de-DE" sz="1100" b="1" dirty="0" err="1">
                <a:solidFill>
                  <a:schemeClr val="tx1"/>
                </a:solidFill>
              </a:rPr>
              <a:t>product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b="1" dirty="0" err="1">
                <a:solidFill>
                  <a:schemeClr val="tx1"/>
                </a:solidFill>
              </a:rPr>
              <a:t>tables</a:t>
            </a:r>
            <a:endParaRPr lang="de-DE" sz="1100" b="1" dirty="0">
              <a:solidFill>
                <a:schemeClr val="tx1"/>
              </a:solidFill>
            </a:endParaRPr>
          </a:p>
        </p:txBody>
      </p:sp>
      <p:sp>
        <p:nvSpPr>
          <p:cNvPr id="191" name="Pfeil: Chevron 190">
            <a:extLst>
              <a:ext uri="{FF2B5EF4-FFF2-40B4-BE49-F238E27FC236}">
                <a16:creationId xmlns:a16="http://schemas.microsoft.com/office/drawing/2014/main" id="{B62259D6-36F7-B7F3-A355-3AC38FB9906A}"/>
              </a:ext>
            </a:extLst>
          </p:cNvPr>
          <p:cNvSpPr/>
          <p:nvPr/>
        </p:nvSpPr>
        <p:spPr>
          <a:xfrm>
            <a:off x="1950582" y="5424806"/>
            <a:ext cx="1800000" cy="504000"/>
          </a:xfrm>
          <a:prstGeom prst="chevron">
            <a:avLst/>
          </a:prstGeom>
          <a:solidFill>
            <a:srgbClr val="D9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 err="1">
                <a:solidFill>
                  <a:schemeClr val="tx1"/>
                </a:solidFill>
              </a:rPr>
              <a:t>Standardized</a:t>
            </a:r>
            <a:r>
              <a:rPr lang="de-DE" sz="1100" b="1" dirty="0">
                <a:solidFill>
                  <a:schemeClr val="tx1"/>
                </a:solidFill>
              </a:rPr>
              <a:t> Views</a:t>
            </a:r>
          </a:p>
        </p:txBody>
      </p:sp>
      <p:sp>
        <p:nvSpPr>
          <p:cNvPr id="193" name="Pfeil: Chevron 192">
            <a:extLst>
              <a:ext uri="{FF2B5EF4-FFF2-40B4-BE49-F238E27FC236}">
                <a16:creationId xmlns:a16="http://schemas.microsoft.com/office/drawing/2014/main" id="{7AC83C4C-E5B1-D74F-3209-7722E72FFA02}"/>
              </a:ext>
            </a:extLst>
          </p:cNvPr>
          <p:cNvSpPr/>
          <p:nvPr/>
        </p:nvSpPr>
        <p:spPr>
          <a:xfrm>
            <a:off x="3572754" y="5415307"/>
            <a:ext cx="1800000" cy="504000"/>
          </a:xfrm>
          <a:prstGeom prst="chevron">
            <a:avLst/>
          </a:prstGeom>
          <a:solidFill>
            <a:srgbClr val="D9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</a:rPr>
              <a:t>Order- / </a:t>
            </a:r>
            <a:r>
              <a:rPr lang="de-DE" sz="1100" b="1" dirty="0" err="1">
                <a:solidFill>
                  <a:schemeClr val="tx1"/>
                </a:solidFill>
              </a:rPr>
              <a:t>Product</a:t>
            </a:r>
            <a:r>
              <a:rPr lang="de-DE" sz="1100" b="1" dirty="0">
                <a:solidFill>
                  <a:schemeClr val="tx1"/>
                </a:solidFill>
              </a:rPr>
              <a:t> -Level Analytical Table</a:t>
            </a:r>
          </a:p>
        </p:txBody>
      </p:sp>
      <p:sp>
        <p:nvSpPr>
          <p:cNvPr id="197" name="Pfeil: Chevron 196">
            <a:extLst>
              <a:ext uri="{FF2B5EF4-FFF2-40B4-BE49-F238E27FC236}">
                <a16:creationId xmlns:a16="http://schemas.microsoft.com/office/drawing/2014/main" id="{E077C4E4-2F1B-9BD2-F1A3-197200C6D101}"/>
              </a:ext>
            </a:extLst>
          </p:cNvPr>
          <p:cNvSpPr/>
          <p:nvPr/>
        </p:nvSpPr>
        <p:spPr>
          <a:xfrm>
            <a:off x="6817098" y="5415307"/>
            <a:ext cx="1800000" cy="504000"/>
          </a:xfrm>
          <a:prstGeom prst="chevron">
            <a:avLst/>
          </a:prstGeom>
          <a:solidFill>
            <a:srgbClr val="D9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</a:rPr>
              <a:t>Behavioral Customer Segments</a:t>
            </a:r>
          </a:p>
        </p:txBody>
      </p:sp>
      <p:sp>
        <p:nvSpPr>
          <p:cNvPr id="199" name="Pfeil: Chevron 198">
            <a:extLst>
              <a:ext uri="{FF2B5EF4-FFF2-40B4-BE49-F238E27FC236}">
                <a16:creationId xmlns:a16="http://schemas.microsoft.com/office/drawing/2014/main" id="{D5FC8534-1FB1-1DFD-0D96-B47A5B15B4FB}"/>
              </a:ext>
            </a:extLst>
          </p:cNvPr>
          <p:cNvSpPr/>
          <p:nvPr/>
        </p:nvSpPr>
        <p:spPr>
          <a:xfrm>
            <a:off x="10061439" y="5424501"/>
            <a:ext cx="1800000" cy="504000"/>
          </a:xfrm>
          <a:prstGeom prst="chevron">
            <a:avLst/>
          </a:prstGeom>
          <a:solidFill>
            <a:srgbClr val="D9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</a:rPr>
              <a:t>Final Customer </a:t>
            </a:r>
            <a:r>
              <a:rPr lang="de-DE" sz="1100" b="1" dirty="0" err="1">
                <a:solidFill>
                  <a:schemeClr val="tx1"/>
                </a:solidFill>
              </a:rPr>
              <a:t>Decision</a:t>
            </a:r>
            <a:r>
              <a:rPr lang="de-DE" sz="1100" b="1" dirty="0">
                <a:solidFill>
                  <a:schemeClr val="tx1"/>
                </a:solidFill>
              </a:rPr>
              <a:t> Table</a:t>
            </a:r>
          </a:p>
        </p:txBody>
      </p:sp>
      <p:sp>
        <p:nvSpPr>
          <p:cNvPr id="201" name="Pfeil: Chevron 200">
            <a:extLst>
              <a:ext uri="{FF2B5EF4-FFF2-40B4-BE49-F238E27FC236}">
                <a16:creationId xmlns:a16="http://schemas.microsoft.com/office/drawing/2014/main" id="{585B9057-4BE2-7F39-42D7-17F3188BC9D6}"/>
              </a:ext>
            </a:extLst>
          </p:cNvPr>
          <p:cNvSpPr/>
          <p:nvPr/>
        </p:nvSpPr>
        <p:spPr>
          <a:xfrm>
            <a:off x="5194926" y="5415307"/>
            <a:ext cx="1800000" cy="504000"/>
          </a:xfrm>
          <a:prstGeom prst="chevron">
            <a:avLst/>
          </a:prstGeom>
          <a:solidFill>
            <a:srgbClr val="D9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solidFill>
                  <a:schemeClr val="tx1"/>
                </a:solidFill>
              </a:rPr>
              <a:t>Customer-Level </a:t>
            </a:r>
            <a:r>
              <a:rPr lang="de-DE" sz="1100" b="1" dirty="0" err="1">
                <a:solidFill>
                  <a:schemeClr val="tx1"/>
                </a:solidFill>
              </a:rPr>
              <a:t>Metrics</a:t>
            </a:r>
            <a:endParaRPr lang="de-DE" sz="1100" b="1" dirty="0">
              <a:solidFill>
                <a:schemeClr val="tx1"/>
              </a:solidFill>
            </a:endParaRPr>
          </a:p>
        </p:txBody>
      </p:sp>
      <p:sp>
        <p:nvSpPr>
          <p:cNvPr id="203" name="Pfeil: Chevron 202">
            <a:extLst>
              <a:ext uri="{FF2B5EF4-FFF2-40B4-BE49-F238E27FC236}">
                <a16:creationId xmlns:a16="http://schemas.microsoft.com/office/drawing/2014/main" id="{A33037B4-7FAB-4BA4-B0B3-5C3C61BB1461}"/>
              </a:ext>
            </a:extLst>
          </p:cNvPr>
          <p:cNvSpPr/>
          <p:nvPr/>
        </p:nvSpPr>
        <p:spPr>
          <a:xfrm>
            <a:off x="8439270" y="5424501"/>
            <a:ext cx="1800000" cy="504000"/>
          </a:xfrm>
          <a:prstGeom prst="chevron">
            <a:avLst/>
          </a:prstGeom>
          <a:solidFill>
            <a:srgbClr val="D9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 err="1">
                <a:solidFill>
                  <a:schemeClr val="tx1"/>
                </a:solidFill>
              </a:rPr>
              <a:t>Expected</a:t>
            </a:r>
            <a:r>
              <a:rPr lang="de-DE" sz="1100" b="1" dirty="0">
                <a:solidFill>
                  <a:schemeClr val="tx1"/>
                </a:solidFill>
              </a:rPr>
              <a:t> Cadence by Segment</a:t>
            </a:r>
          </a:p>
        </p:txBody>
      </p:sp>
      <p:sp>
        <p:nvSpPr>
          <p:cNvPr id="205" name="Textfeld 204">
            <a:extLst>
              <a:ext uri="{FF2B5EF4-FFF2-40B4-BE49-F238E27FC236}">
                <a16:creationId xmlns:a16="http://schemas.microsoft.com/office/drawing/2014/main" id="{C03BCD1C-DAC1-E98F-BD3E-2992D007664A}"/>
              </a:ext>
            </a:extLst>
          </p:cNvPr>
          <p:cNvSpPr txBox="1"/>
          <p:nvPr/>
        </p:nvSpPr>
        <p:spPr>
          <a:xfrm>
            <a:off x="328410" y="5988676"/>
            <a:ext cx="1526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6 </a:t>
            </a:r>
            <a:r>
              <a:rPr lang="de-DE" sz="1100" dirty="0" err="1"/>
              <a:t>sources</a:t>
            </a:r>
            <a:r>
              <a:rPr lang="de-DE" sz="1100" dirty="0"/>
              <a:t> </a:t>
            </a:r>
            <a:r>
              <a:rPr lang="de-DE" sz="1100" dirty="0" err="1"/>
              <a:t>tables</a:t>
            </a:r>
            <a:r>
              <a:rPr lang="de-DE" sz="1100" dirty="0"/>
              <a:t> </a:t>
            </a:r>
            <a:r>
              <a:rPr lang="de-DE" sz="1100" dirty="0" err="1"/>
              <a:t>from</a:t>
            </a:r>
            <a:r>
              <a:rPr lang="de-DE" sz="1100" dirty="0"/>
              <a:t> Instacart</a:t>
            </a:r>
          </a:p>
        </p:txBody>
      </p:sp>
      <p:sp>
        <p:nvSpPr>
          <p:cNvPr id="207" name="Textfeld 206">
            <a:extLst>
              <a:ext uri="{FF2B5EF4-FFF2-40B4-BE49-F238E27FC236}">
                <a16:creationId xmlns:a16="http://schemas.microsoft.com/office/drawing/2014/main" id="{7365CDA7-88E8-4FC7-A556-7915CAE81982}"/>
              </a:ext>
            </a:extLst>
          </p:cNvPr>
          <p:cNvSpPr txBox="1"/>
          <p:nvPr/>
        </p:nvSpPr>
        <p:spPr>
          <a:xfrm>
            <a:off x="1950582" y="5980090"/>
            <a:ext cx="15261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Cleaned</a:t>
            </a:r>
            <a:r>
              <a:rPr lang="de-DE" sz="1100" dirty="0"/>
              <a:t> and </a:t>
            </a:r>
            <a:r>
              <a:rPr lang="de-DE" sz="1100" dirty="0" err="1"/>
              <a:t>standardized</a:t>
            </a:r>
            <a:r>
              <a:rPr lang="de-DE" sz="1100" dirty="0"/>
              <a:t> </a:t>
            </a:r>
            <a:r>
              <a:rPr lang="de-DE" sz="1100" dirty="0" err="1"/>
              <a:t>tables</a:t>
            </a:r>
            <a:r>
              <a:rPr lang="de-DE" sz="1100" dirty="0"/>
              <a:t> for </a:t>
            </a:r>
            <a:r>
              <a:rPr lang="de-DE" sz="1100" dirty="0" err="1"/>
              <a:t>consistent</a:t>
            </a:r>
            <a:r>
              <a:rPr lang="de-DE" sz="1100" dirty="0"/>
              <a:t> </a:t>
            </a:r>
            <a:r>
              <a:rPr lang="de-DE" sz="1100" dirty="0" err="1"/>
              <a:t>use</a:t>
            </a:r>
            <a:endParaRPr lang="de-DE" sz="1100" dirty="0"/>
          </a:p>
        </p:txBody>
      </p:sp>
      <p:sp>
        <p:nvSpPr>
          <p:cNvPr id="209" name="Textfeld 208">
            <a:extLst>
              <a:ext uri="{FF2B5EF4-FFF2-40B4-BE49-F238E27FC236}">
                <a16:creationId xmlns:a16="http://schemas.microsoft.com/office/drawing/2014/main" id="{D882CC47-0190-4D1C-E2AB-A3067AB6D29A}"/>
              </a:ext>
            </a:extLst>
          </p:cNvPr>
          <p:cNvSpPr txBox="1"/>
          <p:nvPr/>
        </p:nvSpPr>
        <p:spPr>
          <a:xfrm>
            <a:off x="3536462" y="5993676"/>
            <a:ext cx="1526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Order-level features (e.g., basket size) and product-level features (e.g., reorder rate)</a:t>
            </a:r>
            <a:endParaRPr lang="de-DE" sz="1100" dirty="0"/>
          </a:p>
        </p:txBody>
      </p:sp>
      <p:sp>
        <p:nvSpPr>
          <p:cNvPr id="211" name="Textfeld 210">
            <a:extLst>
              <a:ext uri="{FF2B5EF4-FFF2-40B4-BE49-F238E27FC236}">
                <a16:creationId xmlns:a16="http://schemas.microsoft.com/office/drawing/2014/main" id="{F52D5627-8378-91F8-09A1-7B3E5BCCAD60}"/>
              </a:ext>
            </a:extLst>
          </p:cNvPr>
          <p:cNvSpPr txBox="1"/>
          <p:nvPr/>
        </p:nvSpPr>
        <p:spPr>
          <a:xfrm>
            <a:off x="5194926" y="5986463"/>
            <a:ext cx="1526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Historical customer behavior metrics (e.g., avg. basket size, reorder rate)</a:t>
            </a:r>
            <a:endParaRPr lang="de-DE" sz="1100" dirty="0"/>
          </a:p>
        </p:txBody>
      </p:sp>
      <p:sp>
        <p:nvSpPr>
          <p:cNvPr id="213" name="Textfeld 212">
            <a:extLst>
              <a:ext uri="{FF2B5EF4-FFF2-40B4-BE49-F238E27FC236}">
                <a16:creationId xmlns:a16="http://schemas.microsoft.com/office/drawing/2014/main" id="{124371E9-49FA-27F9-67DA-1CE614216CE5}"/>
              </a:ext>
            </a:extLst>
          </p:cNvPr>
          <p:cNvSpPr txBox="1"/>
          <p:nvPr/>
        </p:nvSpPr>
        <p:spPr>
          <a:xfrm>
            <a:off x="6780806" y="5993675"/>
            <a:ext cx="15261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Segments by ordering cadence and basket size</a:t>
            </a:r>
            <a:endParaRPr lang="de-DE" sz="1100" dirty="0"/>
          </a:p>
        </p:txBody>
      </p:sp>
      <p:sp>
        <p:nvSpPr>
          <p:cNvPr id="215" name="Textfeld 214">
            <a:extLst>
              <a:ext uri="{FF2B5EF4-FFF2-40B4-BE49-F238E27FC236}">
                <a16:creationId xmlns:a16="http://schemas.microsoft.com/office/drawing/2014/main" id="{792372A5-4EFF-832F-AFEF-B625689E7BD4}"/>
              </a:ext>
            </a:extLst>
          </p:cNvPr>
          <p:cNvSpPr txBox="1"/>
          <p:nvPr/>
        </p:nvSpPr>
        <p:spPr>
          <a:xfrm>
            <a:off x="8445300" y="5986463"/>
            <a:ext cx="15261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Expected reorder cadence for each segment</a:t>
            </a:r>
            <a:endParaRPr lang="de-DE" sz="1100" dirty="0"/>
          </a:p>
        </p:txBody>
      </p:sp>
      <p:sp>
        <p:nvSpPr>
          <p:cNvPr id="217" name="Textfeld 216">
            <a:extLst>
              <a:ext uri="{FF2B5EF4-FFF2-40B4-BE49-F238E27FC236}">
                <a16:creationId xmlns:a16="http://schemas.microsoft.com/office/drawing/2014/main" id="{A0547185-AE82-C814-51F2-8337F534220D}"/>
              </a:ext>
            </a:extLst>
          </p:cNvPr>
          <p:cNvSpPr txBox="1"/>
          <p:nvPr/>
        </p:nvSpPr>
        <p:spPr>
          <a:xfrm>
            <a:off x="10061439" y="5995384"/>
            <a:ext cx="1526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Customer-level table with segment assignment and recommendations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70282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DD08B-5E8A-2CE6-97FD-7023353A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4E18F1-C8A9-F761-E249-25AF5A3D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SQL quality checks confirmed a reliable analytical foundation, while reusable KPIs established the baseline for customer behavior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88C59A3-8D41-2604-5908-E161B745A6EF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D33910A2-1750-B6F9-C498-6157CDFE73A1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SQL data-quality and KPI layer</a:t>
            </a:r>
            <a:endParaRPr lang="de-DE" sz="1200" b="1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6F18A6D2-7068-8F46-C825-A23F3C11F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2865" y="1074903"/>
            <a:ext cx="5669164" cy="353699"/>
          </a:xfr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>
            <a:normAutofit/>
          </a:bodyPr>
          <a:lstStyle/>
          <a:p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Checks 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137C0398-38D7-4F09-D747-BB1E93AE8D37}"/>
              </a:ext>
            </a:extLst>
          </p:cNvPr>
          <p:cNvSpPr txBox="1">
            <a:spLocks/>
          </p:cNvSpPr>
          <p:nvPr/>
        </p:nvSpPr>
        <p:spPr>
          <a:xfrm>
            <a:off x="6189973" y="1074902"/>
            <a:ext cx="5669164" cy="353699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KPI Layer (</a:t>
            </a:r>
            <a:r>
              <a:rPr lang="de-DE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F856000-1160-864E-1262-C3441716D9ED}"/>
              </a:ext>
            </a:extLst>
          </p:cNvPr>
          <p:cNvSpPr/>
          <p:nvPr/>
        </p:nvSpPr>
        <p:spPr>
          <a:xfrm>
            <a:off x="325032" y="5215983"/>
            <a:ext cx="11533029" cy="329138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Key Data Quality 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Findings</a:t>
            </a:r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(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from</a:t>
            </a:r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data</a:t>
            </a:r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clarification</a:t>
            </a:r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30C047C-447F-F678-7746-86DBF20F81A8}"/>
              </a:ext>
            </a:extLst>
          </p:cNvPr>
          <p:cNvSpPr txBox="1"/>
          <p:nvPr/>
        </p:nvSpPr>
        <p:spPr>
          <a:xfrm>
            <a:off x="328410" y="1526146"/>
            <a:ext cx="5767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 performed comprehensive SQL checks to ensure data reliability before building our analytical tables</a:t>
            </a:r>
            <a:endParaRPr lang="de-DE" sz="12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01BD5AF-BC71-BC38-562B-836DA1091862}"/>
              </a:ext>
            </a:extLst>
          </p:cNvPr>
          <p:cNvSpPr txBox="1"/>
          <p:nvPr/>
        </p:nvSpPr>
        <p:spPr>
          <a:xfrm>
            <a:off x="6091547" y="1523913"/>
            <a:ext cx="5767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 created reusable SQL metrics to understand overall ordering behavior and inform our customer segmentation</a:t>
            </a:r>
            <a:endParaRPr lang="de-DE" sz="1200" dirty="0"/>
          </a:p>
        </p:txBody>
      </p:sp>
      <p:graphicFrame>
        <p:nvGraphicFramePr>
          <p:cNvPr id="25" name="Tabelle 24">
            <a:extLst>
              <a:ext uri="{FF2B5EF4-FFF2-40B4-BE49-F238E27FC236}">
                <a16:creationId xmlns:a16="http://schemas.microsoft.com/office/drawing/2014/main" id="{B8686ADE-4C30-2AC8-A68B-A6667E174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314297"/>
              </p:ext>
            </p:extLst>
          </p:nvPr>
        </p:nvGraphicFramePr>
        <p:xfrm>
          <a:off x="328410" y="2014594"/>
          <a:ext cx="5669164" cy="306187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63641">
                  <a:extLst>
                    <a:ext uri="{9D8B030D-6E8A-4147-A177-3AD203B41FA5}">
                      <a16:colId xmlns:a16="http://schemas.microsoft.com/office/drawing/2014/main" val="3871536808"/>
                    </a:ext>
                  </a:extLst>
                </a:gridCol>
                <a:gridCol w="1822360">
                  <a:extLst>
                    <a:ext uri="{9D8B030D-6E8A-4147-A177-3AD203B41FA5}">
                      <a16:colId xmlns:a16="http://schemas.microsoft.com/office/drawing/2014/main" val="430517634"/>
                    </a:ext>
                  </a:extLst>
                </a:gridCol>
                <a:gridCol w="2839792">
                  <a:extLst>
                    <a:ext uri="{9D8B030D-6E8A-4147-A177-3AD203B41FA5}">
                      <a16:colId xmlns:a16="http://schemas.microsoft.com/office/drawing/2014/main" val="4278253315"/>
                    </a:ext>
                  </a:extLst>
                </a:gridCol>
                <a:gridCol w="543371">
                  <a:extLst>
                    <a:ext uri="{9D8B030D-6E8A-4147-A177-3AD203B41FA5}">
                      <a16:colId xmlns:a16="http://schemas.microsoft.com/office/drawing/2014/main" val="3949419646"/>
                    </a:ext>
                  </a:extLst>
                </a:gridCol>
              </a:tblGrid>
              <a:tr h="23339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Purpose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03319"/>
                  </a:ext>
                </a:extLst>
              </a:tr>
              <a:tr h="276272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Duplicate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business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keys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Ensure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unique</a:t>
                      </a:r>
                      <a:r>
                        <a:rPr lang="de-DE" sz="1200" dirty="0"/>
                        <a:t> IDs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5736852"/>
                  </a:ext>
                </a:extLst>
              </a:tr>
              <a:tr h="36305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Orphaned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foreign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keys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Verify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referential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integrity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across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tables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331766"/>
                  </a:ext>
                </a:extLst>
              </a:tr>
              <a:tr h="363055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Prior/</a:t>
                      </a:r>
                      <a:r>
                        <a:rPr lang="de-DE" sz="1200" dirty="0" err="1"/>
                        <a:t>train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reconciliation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Check consistency between prior, train and </a:t>
                      </a:r>
                      <a:r>
                        <a:rPr lang="en-US" sz="1200" dirty="0" err="1"/>
                        <a:t>eval_set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853293"/>
                  </a:ext>
                </a:extLst>
              </a:tr>
              <a:tr h="36305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Missing / </a:t>
                      </a:r>
                      <a:r>
                        <a:rPr lang="de-DE" sz="1200" dirty="0" err="1"/>
                        <a:t>placeholder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categories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Identify missing aisle or department mappings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139267"/>
                  </a:ext>
                </a:extLst>
              </a:tr>
              <a:tr h="363055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Invalid </a:t>
                      </a:r>
                      <a:r>
                        <a:rPr lang="de-DE" sz="1200" dirty="0" err="1"/>
                        <a:t>ranges</a:t>
                      </a:r>
                      <a:r>
                        <a:rPr lang="de-DE" sz="1200" dirty="0"/>
                        <a:t> and </a:t>
                      </a:r>
                      <a:r>
                        <a:rPr lang="de-DE" sz="1200" dirty="0" err="1"/>
                        <a:t>codes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Validate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values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9178786"/>
                  </a:ext>
                </a:extLst>
              </a:tr>
              <a:tr h="36305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Order </a:t>
                      </a:r>
                      <a:r>
                        <a:rPr lang="de-DE" sz="1200" dirty="0" err="1"/>
                        <a:t>sequence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integrity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Ensure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logical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order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sequence</a:t>
                      </a:r>
                      <a:r>
                        <a:rPr lang="de-DE" sz="1200" dirty="0"/>
                        <a:t> per </a:t>
                      </a:r>
                      <a:r>
                        <a:rPr lang="de-DE" sz="1200" dirty="0" err="1"/>
                        <a:t>customer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062008"/>
                  </a:ext>
                </a:extLst>
              </a:tr>
              <a:tr h="36305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Missing </a:t>
                      </a:r>
                      <a:r>
                        <a:rPr lang="de-DE" sz="1200" dirty="0" err="1"/>
                        <a:t>order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gaps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reviewed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Identify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customers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with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insufficient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history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032859"/>
                  </a:ext>
                </a:extLst>
              </a:tr>
              <a:tr h="363055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30-day order-</a:t>
                      </a:r>
                      <a:r>
                        <a:rPr lang="de-DE" sz="1200" dirty="0" err="1"/>
                        <a:t>gap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cap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Quantify</a:t>
                      </a:r>
                      <a:r>
                        <a:rPr lang="de-DE" sz="1200" dirty="0"/>
                        <a:t> and </a:t>
                      </a:r>
                      <a:r>
                        <a:rPr lang="de-DE" sz="1200" dirty="0" err="1"/>
                        <a:t>flag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records</a:t>
                      </a:r>
                      <a:r>
                        <a:rPr lang="de-DE" sz="1200" dirty="0"/>
                        <a:t> at the 30-day </a:t>
                      </a:r>
                      <a:r>
                        <a:rPr lang="de-DE" sz="1200" dirty="0" err="1"/>
                        <a:t>cap</a:t>
                      </a:r>
                      <a:endParaRPr lang="de-DE" sz="12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1780132"/>
                  </a:ext>
                </a:extLst>
              </a:tr>
            </a:tbl>
          </a:graphicData>
        </a:graphic>
      </p:graphicFrame>
      <p:sp>
        <p:nvSpPr>
          <p:cNvPr id="29" name="Flussdiagramm: Verbinder 28">
            <a:extLst>
              <a:ext uri="{FF2B5EF4-FFF2-40B4-BE49-F238E27FC236}">
                <a16:creationId xmlns:a16="http://schemas.microsoft.com/office/drawing/2014/main" id="{65E07CD2-BE9B-11E6-6D0B-7A53679705F7}"/>
              </a:ext>
            </a:extLst>
          </p:cNvPr>
          <p:cNvSpPr/>
          <p:nvPr/>
        </p:nvSpPr>
        <p:spPr>
          <a:xfrm>
            <a:off x="435251" y="2283207"/>
            <a:ext cx="216000" cy="21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1</a:t>
            </a:r>
          </a:p>
        </p:txBody>
      </p:sp>
      <p:sp>
        <p:nvSpPr>
          <p:cNvPr id="31" name="Flussdiagramm: Verbinder 30">
            <a:extLst>
              <a:ext uri="{FF2B5EF4-FFF2-40B4-BE49-F238E27FC236}">
                <a16:creationId xmlns:a16="http://schemas.microsoft.com/office/drawing/2014/main" id="{D6CD6A43-A82B-8C0A-0BC1-50CDB9A71E10}"/>
              </a:ext>
            </a:extLst>
          </p:cNvPr>
          <p:cNvSpPr/>
          <p:nvPr/>
        </p:nvSpPr>
        <p:spPr>
          <a:xfrm>
            <a:off x="435251" y="2603218"/>
            <a:ext cx="216000" cy="21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2</a:t>
            </a:r>
          </a:p>
        </p:txBody>
      </p:sp>
      <p:sp>
        <p:nvSpPr>
          <p:cNvPr id="33" name="Flussdiagramm: Verbinder 32">
            <a:extLst>
              <a:ext uri="{FF2B5EF4-FFF2-40B4-BE49-F238E27FC236}">
                <a16:creationId xmlns:a16="http://schemas.microsoft.com/office/drawing/2014/main" id="{D89E5C61-DA5C-1B55-B3BC-9D4E0FFFBB7A}"/>
              </a:ext>
            </a:extLst>
          </p:cNvPr>
          <p:cNvSpPr/>
          <p:nvPr/>
        </p:nvSpPr>
        <p:spPr>
          <a:xfrm>
            <a:off x="435251" y="2982288"/>
            <a:ext cx="216000" cy="21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3</a:t>
            </a:r>
          </a:p>
        </p:txBody>
      </p:sp>
      <p:sp>
        <p:nvSpPr>
          <p:cNvPr id="35" name="Flussdiagramm: Verbinder 34">
            <a:extLst>
              <a:ext uri="{FF2B5EF4-FFF2-40B4-BE49-F238E27FC236}">
                <a16:creationId xmlns:a16="http://schemas.microsoft.com/office/drawing/2014/main" id="{45F0A32E-D4CC-8EED-D39A-723EB3D283E8}"/>
              </a:ext>
            </a:extLst>
          </p:cNvPr>
          <p:cNvSpPr/>
          <p:nvPr/>
        </p:nvSpPr>
        <p:spPr>
          <a:xfrm>
            <a:off x="435251" y="3321000"/>
            <a:ext cx="216000" cy="21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4</a:t>
            </a:r>
          </a:p>
        </p:txBody>
      </p:sp>
      <p:sp>
        <p:nvSpPr>
          <p:cNvPr id="37" name="Flussdiagramm: Verbinder 36">
            <a:extLst>
              <a:ext uri="{FF2B5EF4-FFF2-40B4-BE49-F238E27FC236}">
                <a16:creationId xmlns:a16="http://schemas.microsoft.com/office/drawing/2014/main" id="{339B25DF-E3A5-5E29-80CC-E8351BB33F55}"/>
              </a:ext>
            </a:extLst>
          </p:cNvPr>
          <p:cNvSpPr/>
          <p:nvPr/>
        </p:nvSpPr>
        <p:spPr>
          <a:xfrm>
            <a:off x="437589" y="3692093"/>
            <a:ext cx="216000" cy="21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5</a:t>
            </a:r>
          </a:p>
        </p:txBody>
      </p:sp>
      <p:sp>
        <p:nvSpPr>
          <p:cNvPr id="39" name="Flussdiagramm: Verbinder 38">
            <a:extLst>
              <a:ext uri="{FF2B5EF4-FFF2-40B4-BE49-F238E27FC236}">
                <a16:creationId xmlns:a16="http://schemas.microsoft.com/office/drawing/2014/main" id="{E324AC05-2524-BC9A-8590-61F2DAB20B2F}"/>
              </a:ext>
            </a:extLst>
          </p:cNvPr>
          <p:cNvSpPr/>
          <p:nvPr/>
        </p:nvSpPr>
        <p:spPr>
          <a:xfrm>
            <a:off x="435251" y="4077827"/>
            <a:ext cx="216000" cy="21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6</a:t>
            </a:r>
          </a:p>
        </p:txBody>
      </p:sp>
      <p:sp>
        <p:nvSpPr>
          <p:cNvPr id="41" name="Flussdiagramm: Verbinder 40">
            <a:extLst>
              <a:ext uri="{FF2B5EF4-FFF2-40B4-BE49-F238E27FC236}">
                <a16:creationId xmlns:a16="http://schemas.microsoft.com/office/drawing/2014/main" id="{FD95FC79-8CD5-784E-97D8-A5942AE925F3}"/>
              </a:ext>
            </a:extLst>
          </p:cNvPr>
          <p:cNvSpPr/>
          <p:nvPr/>
        </p:nvSpPr>
        <p:spPr>
          <a:xfrm>
            <a:off x="435251" y="4421406"/>
            <a:ext cx="216000" cy="21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7</a:t>
            </a:r>
          </a:p>
        </p:txBody>
      </p:sp>
      <p:sp>
        <p:nvSpPr>
          <p:cNvPr id="43" name="Flussdiagramm: Verbinder 42">
            <a:extLst>
              <a:ext uri="{FF2B5EF4-FFF2-40B4-BE49-F238E27FC236}">
                <a16:creationId xmlns:a16="http://schemas.microsoft.com/office/drawing/2014/main" id="{6EFCA2CA-F185-73C8-11BE-34978552FAB6}"/>
              </a:ext>
            </a:extLst>
          </p:cNvPr>
          <p:cNvSpPr/>
          <p:nvPr/>
        </p:nvSpPr>
        <p:spPr>
          <a:xfrm>
            <a:off x="437589" y="4800089"/>
            <a:ext cx="216000" cy="21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8</a:t>
            </a:r>
          </a:p>
        </p:txBody>
      </p:sp>
      <p:pic>
        <p:nvPicPr>
          <p:cNvPr id="45" name="Grafik 44" descr="Abzeichen Tick1 mit einfarbiger Füllung">
            <a:extLst>
              <a:ext uri="{FF2B5EF4-FFF2-40B4-BE49-F238E27FC236}">
                <a16:creationId xmlns:a16="http://schemas.microsoft.com/office/drawing/2014/main" id="{C971DED3-83C1-CEAE-EE5C-5ACDEB552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7363" y="2247207"/>
            <a:ext cx="252000" cy="252000"/>
          </a:xfrm>
          <a:prstGeom prst="rect">
            <a:avLst/>
          </a:prstGeom>
        </p:spPr>
      </p:pic>
      <p:pic>
        <p:nvPicPr>
          <p:cNvPr id="47" name="Grafik 46" descr="Abzeichen Tick1 mit einfarbiger Füllung">
            <a:extLst>
              <a:ext uri="{FF2B5EF4-FFF2-40B4-BE49-F238E27FC236}">
                <a16:creationId xmlns:a16="http://schemas.microsoft.com/office/drawing/2014/main" id="{1A27F36D-AA40-6293-42A2-A90E49546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7363" y="2576811"/>
            <a:ext cx="252000" cy="252000"/>
          </a:xfrm>
          <a:prstGeom prst="rect">
            <a:avLst/>
          </a:prstGeom>
        </p:spPr>
      </p:pic>
      <p:pic>
        <p:nvPicPr>
          <p:cNvPr id="49" name="Grafik 48" descr="Abzeichen Tick1 mit einfarbiger Füllung">
            <a:extLst>
              <a:ext uri="{FF2B5EF4-FFF2-40B4-BE49-F238E27FC236}">
                <a16:creationId xmlns:a16="http://schemas.microsoft.com/office/drawing/2014/main" id="{A5FBDF5E-AD8B-D79A-D651-4FB76D938F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7363" y="2951148"/>
            <a:ext cx="252000" cy="252000"/>
          </a:xfrm>
          <a:prstGeom prst="rect">
            <a:avLst/>
          </a:prstGeom>
        </p:spPr>
      </p:pic>
      <p:pic>
        <p:nvPicPr>
          <p:cNvPr id="51" name="Grafik 50" descr="Abzeichen Tick1 mit einfarbiger Füllung">
            <a:extLst>
              <a:ext uri="{FF2B5EF4-FFF2-40B4-BE49-F238E27FC236}">
                <a16:creationId xmlns:a16="http://schemas.microsoft.com/office/drawing/2014/main" id="{7C499EBA-7A45-D2D9-0E00-B1A5BDF156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7363" y="3306318"/>
            <a:ext cx="252000" cy="252000"/>
          </a:xfrm>
          <a:prstGeom prst="rect">
            <a:avLst/>
          </a:prstGeom>
        </p:spPr>
      </p:pic>
      <p:pic>
        <p:nvPicPr>
          <p:cNvPr id="53" name="Grafik 52" descr="Abzeichen Tick1 mit einfarbiger Füllung">
            <a:extLst>
              <a:ext uri="{FF2B5EF4-FFF2-40B4-BE49-F238E27FC236}">
                <a16:creationId xmlns:a16="http://schemas.microsoft.com/office/drawing/2014/main" id="{0BD77BF0-7912-2DB3-637D-E6F44F76D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7363" y="3679215"/>
            <a:ext cx="252000" cy="252000"/>
          </a:xfrm>
          <a:prstGeom prst="rect">
            <a:avLst/>
          </a:prstGeom>
        </p:spPr>
      </p:pic>
      <p:pic>
        <p:nvPicPr>
          <p:cNvPr id="55" name="Grafik 54" descr="Abzeichen Tick1 mit einfarbiger Füllung">
            <a:extLst>
              <a:ext uri="{FF2B5EF4-FFF2-40B4-BE49-F238E27FC236}">
                <a16:creationId xmlns:a16="http://schemas.microsoft.com/office/drawing/2014/main" id="{1B300DFA-E84E-4396-D797-7823A5849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7363" y="4014129"/>
            <a:ext cx="252000" cy="252000"/>
          </a:xfrm>
          <a:prstGeom prst="rect">
            <a:avLst/>
          </a:prstGeom>
        </p:spPr>
      </p:pic>
      <p:pic>
        <p:nvPicPr>
          <p:cNvPr id="57" name="Grafik 56" descr="Abzeichen Tick1 mit einfarbiger Füllung">
            <a:extLst>
              <a:ext uri="{FF2B5EF4-FFF2-40B4-BE49-F238E27FC236}">
                <a16:creationId xmlns:a16="http://schemas.microsoft.com/office/drawing/2014/main" id="{D5ACA636-F81F-4611-7EB4-85FEBA5E0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7363" y="4408528"/>
            <a:ext cx="252000" cy="252000"/>
          </a:xfrm>
          <a:prstGeom prst="rect">
            <a:avLst/>
          </a:prstGeom>
        </p:spPr>
      </p:pic>
      <p:pic>
        <p:nvPicPr>
          <p:cNvPr id="59" name="Grafik 58" descr="Abzeichen Tick1 mit einfarbiger Füllung">
            <a:extLst>
              <a:ext uri="{FF2B5EF4-FFF2-40B4-BE49-F238E27FC236}">
                <a16:creationId xmlns:a16="http://schemas.microsoft.com/office/drawing/2014/main" id="{911FC3A8-C287-98E4-6B16-8158CD9B5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7363" y="4768224"/>
            <a:ext cx="252000" cy="252000"/>
          </a:xfrm>
          <a:prstGeom prst="rect">
            <a:avLst/>
          </a:prstGeom>
        </p:spPr>
      </p:pic>
      <p:graphicFrame>
        <p:nvGraphicFramePr>
          <p:cNvPr id="61" name="Tabelle 60">
            <a:extLst>
              <a:ext uri="{FF2B5EF4-FFF2-40B4-BE49-F238E27FC236}">
                <a16:creationId xmlns:a16="http://schemas.microsoft.com/office/drawing/2014/main" id="{B48DA803-1E05-61DF-393C-D0B151FFE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035084"/>
              </p:ext>
            </p:extLst>
          </p:nvPr>
        </p:nvGraphicFramePr>
        <p:xfrm>
          <a:off x="6188897" y="2013130"/>
          <a:ext cx="5669164" cy="306114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25004">
                  <a:extLst>
                    <a:ext uri="{9D8B030D-6E8A-4147-A177-3AD203B41FA5}">
                      <a16:colId xmlns:a16="http://schemas.microsoft.com/office/drawing/2014/main" val="3871536808"/>
                    </a:ext>
                  </a:extLst>
                </a:gridCol>
                <a:gridCol w="2409578">
                  <a:extLst>
                    <a:ext uri="{9D8B030D-6E8A-4147-A177-3AD203B41FA5}">
                      <a16:colId xmlns:a16="http://schemas.microsoft.com/office/drawing/2014/main" val="430517634"/>
                    </a:ext>
                  </a:extLst>
                </a:gridCol>
                <a:gridCol w="2091588">
                  <a:extLst>
                    <a:ext uri="{9D8B030D-6E8A-4147-A177-3AD203B41FA5}">
                      <a16:colId xmlns:a16="http://schemas.microsoft.com/office/drawing/2014/main" val="4278253315"/>
                    </a:ext>
                  </a:extLst>
                </a:gridCol>
                <a:gridCol w="742994">
                  <a:extLst>
                    <a:ext uri="{9D8B030D-6E8A-4147-A177-3AD203B41FA5}">
                      <a16:colId xmlns:a16="http://schemas.microsoft.com/office/drawing/2014/main" val="3949419646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/>
                      <a:endParaRPr lang="de-DE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lang="de-DE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Value/Insight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03319"/>
                  </a:ext>
                </a:extLst>
              </a:tr>
              <a:tr h="293713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Total </a:t>
                      </a:r>
                      <a:r>
                        <a:rPr lang="de-DE" sz="1200" b="0" dirty="0" err="1"/>
                        <a:t>customers</a:t>
                      </a:r>
                      <a:endParaRPr lang="de-DE" sz="1200" b="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206,209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5736852"/>
                  </a:ext>
                </a:extLst>
              </a:tr>
              <a:tr h="353947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Total </a:t>
                      </a:r>
                      <a:r>
                        <a:rPr lang="de-DE" sz="1200" b="0" dirty="0" err="1"/>
                        <a:t>prior</a:t>
                      </a:r>
                      <a:r>
                        <a:rPr lang="de-DE" sz="1200" b="0" dirty="0"/>
                        <a:t> </a:t>
                      </a:r>
                      <a:r>
                        <a:rPr lang="de-DE" sz="1200" b="0" dirty="0" err="1"/>
                        <a:t>orders</a:t>
                      </a:r>
                      <a:endParaRPr lang="de-DE" sz="1200" b="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3,214,874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331766"/>
                  </a:ext>
                </a:extLst>
              </a:tr>
              <a:tr h="353947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Average </a:t>
                      </a:r>
                      <a:r>
                        <a:rPr lang="de-DE" sz="1200" b="0" dirty="0" err="1"/>
                        <a:t>basket</a:t>
                      </a:r>
                      <a:r>
                        <a:rPr lang="de-DE" sz="1200" b="0" dirty="0"/>
                        <a:t> </a:t>
                      </a:r>
                      <a:r>
                        <a:rPr lang="de-DE" sz="1200" b="0" dirty="0" err="1"/>
                        <a:t>size</a:t>
                      </a:r>
                      <a:endParaRPr lang="de-DE" sz="1200" b="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10.09 </a:t>
                      </a:r>
                      <a:r>
                        <a:rPr lang="de-DE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</a:t>
                      </a:r>
                      <a:endParaRPr lang="de-DE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853293"/>
                  </a:ext>
                </a:extLst>
              </a:tr>
              <a:tr h="380371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Average </a:t>
                      </a:r>
                      <a:r>
                        <a:rPr lang="de-DE" sz="1200" b="0" dirty="0" err="1"/>
                        <a:t>days</a:t>
                      </a:r>
                      <a:r>
                        <a:rPr lang="de-DE" sz="1200" b="0" dirty="0"/>
                        <a:t> </a:t>
                      </a:r>
                      <a:r>
                        <a:rPr lang="de-DE" sz="1200" b="0" dirty="0" err="1"/>
                        <a:t>between</a:t>
                      </a:r>
                      <a:r>
                        <a:rPr lang="de-DE" sz="1200" b="0" dirty="0"/>
                        <a:t> </a:t>
                      </a:r>
                      <a:r>
                        <a:rPr lang="de-DE" sz="1200" b="0" dirty="0" err="1"/>
                        <a:t>orders</a:t>
                      </a:r>
                      <a:endParaRPr lang="de-DE" sz="1200" b="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10.71 </a:t>
                      </a:r>
                      <a:r>
                        <a:rPr lang="de-DE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days</a:t>
                      </a:r>
                      <a:endParaRPr lang="de-DE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4139267"/>
                  </a:ext>
                </a:extLst>
              </a:tr>
              <a:tr h="353947"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Overall </a:t>
                      </a:r>
                      <a:r>
                        <a:rPr lang="de-DE" sz="1200" b="0" dirty="0" err="1"/>
                        <a:t>reorder</a:t>
                      </a:r>
                      <a:r>
                        <a:rPr lang="de-DE" sz="1200" b="0" dirty="0"/>
                        <a:t> rate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58.97%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9178786"/>
                  </a:ext>
                </a:extLst>
              </a:tr>
              <a:tr h="353947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 err="1"/>
                        <a:t>Reorder</a:t>
                      </a:r>
                      <a:r>
                        <a:rPr lang="de-DE" sz="1200" b="0" dirty="0"/>
                        <a:t> rate by </a:t>
                      </a:r>
                      <a:r>
                        <a:rPr lang="de-DE" sz="1200" b="0" dirty="0" err="1"/>
                        <a:t>aisle</a:t>
                      </a:r>
                      <a:endParaRPr lang="de-DE" sz="1200" b="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Calculated</a:t>
                      </a:r>
                      <a:r>
                        <a:rPr lang="de-DE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 SQL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9062008"/>
                  </a:ext>
                </a:extLst>
              </a:tr>
              <a:tr h="373931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 err="1"/>
                        <a:t>Reorder</a:t>
                      </a:r>
                      <a:r>
                        <a:rPr lang="de-DE" sz="1200" b="0" dirty="0"/>
                        <a:t> rate by </a:t>
                      </a:r>
                      <a:r>
                        <a:rPr lang="de-DE" sz="1200" b="0" dirty="0" err="1"/>
                        <a:t>department</a:t>
                      </a:r>
                      <a:endParaRPr lang="de-DE" sz="1200" b="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Calculated</a:t>
                      </a:r>
                      <a:r>
                        <a:rPr lang="de-DE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 SQL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032859"/>
                  </a:ext>
                </a:extLst>
              </a:tr>
              <a:tr h="367048"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Top </a:t>
                      </a:r>
                      <a:r>
                        <a:rPr lang="de-DE" sz="1200" b="0" dirty="0" err="1"/>
                        <a:t>products</a:t>
                      </a:r>
                      <a:r>
                        <a:rPr lang="de-DE" sz="1200" b="0" dirty="0"/>
                        <a:t> by </a:t>
                      </a:r>
                      <a:r>
                        <a:rPr lang="de-DE" sz="1200" b="0" dirty="0" err="1"/>
                        <a:t>order</a:t>
                      </a:r>
                      <a:r>
                        <a:rPr lang="de-DE" sz="1200" b="0" dirty="0"/>
                        <a:t> </a:t>
                      </a:r>
                      <a:r>
                        <a:rPr lang="de-DE" sz="1200" b="0" dirty="0" err="1"/>
                        <a:t>frequency</a:t>
                      </a:r>
                      <a:endParaRPr lang="de-DE" sz="1200" b="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Calculated</a:t>
                      </a:r>
                      <a:r>
                        <a:rPr lang="de-DE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 SQL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1780132"/>
                  </a:ext>
                </a:extLst>
              </a:tr>
            </a:tbl>
          </a:graphicData>
        </a:graphic>
      </p:graphicFrame>
      <p:sp>
        <p:nvSpPr>
          <p:cNvPr id="75" name="Flussdiagramm: Verbinder 74">
            <a:extLst>
              <a:ext uri="{FF2B5EF4-FFF2-40B4-BE49-F238E27FC236}">
                <a16:creationId xmlns:a16="http://schemas.microsoft.com/office/drawing/2014/main" id="{84C41FB1-FAAC-91CB-CDF4-FB8141D23628}"/>
              </a:ext>
            </a:extLst>
          </p:cNvPr>
          <p:cNvSpPr>
            <a:spLocks noChangeAspect="1"/>
          </p:cNvSpPr>
          <p:nvPr/>
        </p:nvSpPr>
        <p:spPr>
          <a:xfrm>
            <a:off x="6258028" y="2260086"/>
            <a:ext cx="252000" cy="25199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Flussdiagramm: Verbinder 88">
            <a:extLst>
              <a:ext uri="{FF2B5EF4-FFF2-40B4-BE49-F238E27FC236}">
                <a16:creationId xmlns:a16="http://schemas.microsoft.com/office/drawing/2014/main" id="{D6AE11CE-D5BF-A82B-670F-3A596A09E7EC}"/>
              </a:ext>
            </a:extLst>
          </p:cNvPr>
          <p:cNvSpPr>
            <a:spLocks noChangeAspect="1"/>
          </p:cNvSpPr>
          <p:nvPr/>
        </p:nvSpPr>
        <p:spPr>
          <a:xfrm>
            <a:off x="6258028" y="2587253"/>
            <a:ext cx="252000" cy="25199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Flussdiagramm: Verbinder 90">
            <a:extLst>
              <a:ext uri="{FF2B5EF4-FFF2-40B4-BE49-F238E27FC236}">
                <a16:creationId xmlns:a16="http://schemas.microsoft.com/office/drawing/2014/main" id="{9D0B268E-E4A9-538D-574E-8A43D7ECAE63}"/>
              </a:ext>
            </a:extLst>
          </p:cNvPr>
          <p:cNvSpPr>
            <a:spLocks noChangeAspect="1"/>
          </p:cNvSpPr>
          <p:nvPr/>
        </p:nvSpPr>
        <p:spPr>
          <a:xfrm>
            <a:off x="6258028" y="2949227"/>
            <a:ext cx="252000" cy="25199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3" name="Flussdiagramm: Verbinder 92">
            <a:extLst>
              <a:ext uri="{FF2B5EF4-FFF2-40B4-BE49-F238E27FC236}">
                <a16:creationId xmlns:a16="http://schemas.microsoft.com/office/drawing/2014/main" id="{CB25DB88-37BA-7EF6-8BEE-25423CF4E247}"/>
              </a:ext>
            </a:extLst>
          </p:cNvPr>
          <p:cNvSpPr>
            <a:spLocks noChangeAspect="1"/>
          </p:cNvSpPr>
          <p:nvPr/>
        </p:nvSpPr>
        <p:spPr>
          <a:xfrm>
            <a:off x="6258028" y="3341343"/>
            <a:ext cx="252000" cy="25199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5" name="Flussdiagramm: Verbinder 94">
            <a:extLst>
              <a:ext uri="{FF2B5EF4-FFF2-40B4-BE49-F238E27FC236}">
                <a16:creationId xmlns:a16="http://schemas.microsoft.com/office/drawing/2014/main" id="{299DDB2D-0935-32BF-D22D-3DFD88BE6782}"/>
              </a:ext>
            </a:extLst>
          </p:cNvPr>
          <p:cNvSpPr>
            <a:spLocks noChangeAspect="1"/>
          </p:cNvSpPr>
          <p:nvPr/>
        </p:nvSpPr>
        <p:spPr>
          <a:xfrm>
            <a:off x="6258028" y="3679215"/>
            <a:ext cx="252000" cy="25199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7" name="Flussdiagramm: Verbinder 96">
            <a:extLst>
              <a:ext uri="{FF2B5EF4-FFF2-40B4-BE49-F238E27FC236}">
                <a16:creationId xmlns:a16="http://schemas.microsoft.com/office/drawing/2014/main" id="{6950864D-C0E4-AEBB-A6AF-F6EF819BD711}"/>
              </a:ext>
            </a:extLst>
          </p:cNvPr>
          <p:cNvSpPr>
            <a:spLocks noChangeAspect="1"/>
          </p:cNvSpPr>
          <p:nvPr/>
        </p:nvSpPr>
        <p:spPr>
          <a:xfrm>
            <a:off x="6258028" y="4020746"/>
            <a:ext cx="252000" cy="25199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Flussdiagramm: Verbinder 98">
            <a:extLst>
              <a:ext uri="{FF2B5EF4-FFF2-40B4-BE49-F238E27FC236}">
                <a16:creationId xmlns:a16="http://schemas.microsoft.com/office/drawing/2014/main" id="{ECDFA98C-E946-6A71-889B-DBA9327F62B4}"/>
              </a:ext>
            </a:extLst>
          </p:cNvPr>
          <p:cNvSpPr>
            <a:spLocks noChangeAspect="1"/>
          </p:cNvSpPr>
          <p:nvPr/>
        </p:nvSpPr>
        <p:spPr>
          <a:xfrm>
            <a:off x="6258028" y="4412264"/>
            <a:ext cx="252000" cy="25199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1" name="Flussdiagramm: Verbinder 100">
            <a:extLst>
              <a:ext uri="{FF2B5EF4-FFF2-40B4-BE49-F238E27FC236}">
                <a16:creationId xmlns:a16="http://schemas.microsoft.com/office/drawing/2014/main" id="{E4E5E076-D69B-D9D9-4C9A-46E86AB88559}"/>
              </a:ext>
            </a:extLst>
          </p:cNvPr>
          <p:cNvSpPr>
            <a:spLocks noChangeAspect="1"/>
          </p:cNvSpPr>
          <p:nvPr/>
        </p:nvSpPr>
        <p:spPr>
          <a:xfrm>
            <a:off x="6260574" y="4766037"/>
            <a:ext cx="252000" cy="251999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3" name="Grafik 102" descr="Benutzer Silhouette">
            <a:extLst>
              <a:ext uri="{FF2B5EF4-FFF2-40B4-BE49-F238E27FC236}">
                <a16:creationId xmlns:a16="http://schemas.microsoft.com/office/drawing/2014/main" id="{AD406E80-6A51-3F83-58EF-A1ED36BB03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6906" y="2292972"/>
            <a:ext cx="180000" cy="180000"/>
          </a:xfrm>
          <a:prstGeom prst="rect">
            <a:avLst/>
          </a:prstGeom>
        </p:spPr>
      </p:pic>
      <p:pic>
        <p:nvPicPr>
          <p:cNvPr id="105" name="Grafik 104" descr="Warenkorb Silhouette">
            <a:extLst>
              <a:ext uri="{FF2B5EF4-FFF2-40B4-BE49-F238E27FC236}">
                <a16:creationId xmlns:a16="http://schemas.microsoft.com/office/drawing/2014/main" id="{71326A14-5997-7E34-BB9D-E6F39A448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6906" y="2620139"/>
            <a:ext cx="180000" cy="180000"/>
          </a:xfrm>
          <a:prstGeom prst="rect">
            <a:avLst/>
          </a:prstGeom>
        </p:spPr>
      </p:pic>
      <p:pic>
        <p:nvPicPr>
          <p:cNvPr id="107" name="Grafik 106" descr="Einkaufskorb Silhouette">
            <a:extLst>
              <a:ext uri="{FF2B5EF4-FFF2-40B4-BE49-F238E27FC236}">
                <a16:creationId xmlns:a16="http://schemas.microsoft.com/office/drawing/2014/main" id="{68934B5B-90C3-E030-7B0C-E3E9F074A1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0467" y="2978787"/>
            <a:ext cx="180000" cy="180000"/>
          </a:xfrm>
          <a:prstGeom prst="rect">
            <a:avLst/>
          </a:prstGeom>
        </p:spPr>
      </p:pic>
      <p:pic>
        <p:nvPicPr>
          <p:cNvPr id="109" name="Grafik 108" descr="Kontinuierliche Verbesserung Silhouette">
            <a:extLst>
              <a:ext uri="{FF2B5EF4-FFF2-40B4-BE49-F238E27FC236}">
                <a16:creationId xmlns:a16="http://schemas.microsoft.com/office/drawing/2014/main" id="{CD1A9CA9-E445-84D6-093A-971D83F8A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6467" y="3662987"/>
            <a:ext cx="288000" cy="288000"/>
          </a:xfrm>
          <a:prstGeom prst="rect">
            <a:avLst/>
          </a:prstGeom>
        </p:spPr>
      </p:pic>
      <p:pic>
        <p:nvPicPr>
          <p:cNvPr id="111" name="Grafik 110" descr="Monatskalender Silhouette">
            <a:extLst>
              <a:ext uri="{FF2B5EF4-FFF2-40B4-BE49-F238E27FC236}">
                <a16:creationId xmlns:a16="http://schemas.microsoft.com/office/drawing/2014/main" id="{CD242067-C5AC-DF84-8AF0-DA9EEFABB1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0467" y="3374229"/>
            <a:ext cx="180000" cy="180000"/>
          </a:xfrm>
          <a:prstGeom prst="rect">
            <a:avLst/>
          </a:prstGeom>
        </p:spPr>
      </p:pic>
      <p:pic>
        <p:nvPicPr>
          <p:cNvPr id="113" name="Grafik 112" descr="Präsentation mit Balkendiagramm Silhouette">
            <a:extLst>
              <a:ext uri="{FF2B5EF4-FFF2-40B4-BE49-F238E27FC236}">
                <a16:creationId xmlns:a16="http://schemas.microsoft.com/office/drawing/2014/main" id="{6DA913BF-845C-D428-A27F-82D13E6C87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00467" y="4064986"/>
            <a:ext cx="180000" cy="180000"/>
          </a:xfrm>
          <a:prstGeom prst="rect">
            <a:avLst/>
          </a:prstGeom>
        </p:spPr>
      </p:pic>
      <p:pic>
        <p:nvPicPr>
          <p:cNvPr id="115" name="Grafik 114" descr="Schachtel Silhouette">
            <a:extLst>
              <a:ext uri="{FF2B5EF4-FFF2-40B4-BE49-F238E27FC236}">
                <a16:creationId xmlns:a16="http://schemas.microsoft.com/office/drawing/2014/main" id="{AE0705B7-87DA-018A-9542-3EECCB361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6906" y="4808644"/>
            <a:ext cx="180000" cy="180000"/>
          </a:xfrm>
          <a:prstGeom prst="rect">
            <a:avLst/>
          </a:prstGeom>
        </p:spPr>
      </p:pic>
      <p:pic>
        <p:nvPicPr>
          <p:cNvPr id="117" name="Grafik 116" descr="Balkendiagramm Silhouette">
            <a:extLst>
              <a:ext uri="{FF2B5EF4-FFF2-40B4-BE49-F238E27FC236}">
                <a16:creationId xmlns:a16="http://schemas.microsoft.com/office/drawing/2014/main" id="{1A5740FD-6387-3B7B-347F-DB1966BA4F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06906" y="4452284"/>
            <a:ext cx="180000" cy="180000"/>
          </a:xfrm>
          <a:prstGeom prst="rect">
            <a:avLst/>
          </a:prstGeom>
        </p:spPr>
      </p:pic>
      <p:sp>
        <p:nvSpPr>
          <p:cNvPr id="119" name="Rechteck 118">
            <a:extLst>
              <a:ext uri="{FF2B5EF4-FFF2-40B4-BE49-F238E27FC236}">
                <a16:creationId xmlns:a16="http://schemas.microsoft.com/office/drawing/2014/main" id="{4F780A28-B7C3-CC80-D12A-856A0C829A00}"/>
              </a:ext>
            </a:extLst>
          </p:cNvPr>
          <p:cNvSpPr/>
          <p:nvPr/>
        </p:nvSpPr>
        <p:spPr>
          <a:xfrm>
            <a:off x="332866" y="6173490"/>
            <a:ext cx="1938271" cy="375353"/>
          </a:xfrm>
          <a:prstGeom prst="rect">
            <a:avLst/>
          </a:prstGeom>
          <a:solidFill>
            <a:srgbClr val="EFF9EB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No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duplicate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order_id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product_id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or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user_id</a:t>
            </a:r>
            <a:endParaRPr lang="de-DE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1BB47F55-5681-0BDE-5D89-8EA789DB3A0A}"/>
              </a:ext>
            </a:extLst>
          </p:cNvPr>
          <p:cNvSpPr/>
          <p:nvPr/>
        </p:nvSpPr>
        <p:spPr>
          <a:xfrm>
            <a:off x="332865" y="5600844"/>
            <a:ext cx="1938271" cy="572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bg2">
                    <a:lumMod val="25000"/>
                  </a:schemeClr>
                </a:solidFill>
              </a:rPr>
              <a:t>0</a:t>
            </a:r>
          </a:p>
          <a:p>
            <a:pPr algn="ctr"/>
            <a:r>
              <a:rPr lang="de-DE" sz="1200" b="1" dirty="0" err="1">
                <a:solidFill>
                  <a:schemeClr val="bg2">
                    <a:lumMod val="25000"/>
                  </a:schemeClr>
                </a:solidFill>
              </a:rPr>
              <a:t>Duplicate</a:t>
            </a:r>
            <a:r>
              <a:rPr lang="de-DE" sz="12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200" b="1" dirty="0" err="1">
                <a:solidFill>
                  <a:schemeClr val="bg2">
                    <a:lumMod val="25000"/>
                  </a:schemeClr>
                </a:solidFill>
              </a:rPr>
              <a:t>business</a:t>
            </a:r>
            <a:r>
              <a:rPr lang="de-DE" sz="12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200" b="1" dirty="0" err="1">
                <a:solidFill>
                  <a:schemeClr val="bg2">
                    <a:lumMod val="25000"/>
                  </a:schemeClr>
                </a:solidFill>
              </a:rPr>
              <a:t>keys</a:t>
            </a:r>
            <a:r>
              <a:rPr lang="de-DE" sz="12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2AB6AD3B-4DF6-1883-6A2A-2C57ED172FE0}"/>
              </a:ext>
            </a:extLst>
          </p:cNvPr>
          <p:cNvSpPr/>
          <p:nvPr/>
        </p:nvSpPr>
        <p:spPr>
          <a:xfrm>
            <a:off x="2423537" y="6173489"/>
            <a:ext cx="1938271" cy="383259"/>
          </a:xfrm>
          <a:prstGeom prst="rect">
            <a:avLst/>
          </a:prstGeom>
          <a:solidFill>
            <a:srgbClr val="EFF9EB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All FK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relationships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valid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across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tables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802B7296-89AB-AEFF-3345-253BF383049A}"/>
              </a:ext>
            </a:extLst>
          </p:cNvPr>
          <p:cNvSpPr/>
          <p:nvPr/>
        </p:nvSpPr>
        <p:spPr>
          <a:xfrm>
            <a:off x="2423536" y="5600844"/>
            <a:ext cx="1938271" cy="572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bg2">
                    <a:lumMod val="25000"/>
                  </a:schemeClr>
                </a:solidFill>
              </a:rPr>
              <a:t>0</a:t>
            </a:r>
          </a:p>
          <a:p>
            <a:pPr algn="ctr"/>
            <a:r>
              <a:rPr lang="de-DE" sz="1200" b="1" dirty="0" err="1">
                <a:solidFill>
                  <a:schemeClr val="bg2">
                    <a:lumMod val="25000"/>
                  </a:schemeClr>
                </a:solidFill>
              </a:rPr>
              <a:t>Orphaned</a:t>
            </a:r>
            <a:r>
              <a:rPr lang="de-DE" sz="12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200" b="1" dirty="0" err="1">
                <a:solidFill>
                  <a:schemeClr val="bg2">
                    <a:lumMod val="25000"/>
                  </a:schemeClr>
                </a:solidFill>
              </a:rPr>
              <a:t>foreign</a:t>
            </a:r>
            <a:r>
              <a:rPr lang="de-DE" sz="12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200" b="1" dirty="0" err="1">
                <a:solidFill>
                  <a:schemeClr val="bg2">
                    <a:lumMod val="25000"/>
                  </a:schemeClr>
                </a:solidFill>
              </a:rPr>
              <a:t>keys</a:t>
            </a:r>
            <a:r>
              <a:rPr lang="de-DE" sz="12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507522DF-F78E-F659-8DCD-2F92DDB6DC04}"/>
              </a:ext>
            </a:extLst>
          </p:cNvPr>
          <p:cNvSpPr/>
          <p:nvPr/>
        </p:nvSpPr>
        <p:spPr>
          <a:xfrm>
            <a:off x="4596196" y="6171257"/>
            <a:ext cx="1938271" cy="385491"/>
          </a:xfrm>
          <a:prstGeom prst="rect">
            <a:avLst/>
          </a:prstGeom>
          <a:solidFill>
            <a:srgbClr val="EFF9EB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No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discrepancies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in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order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records</a:t>
            </a:r>
            <a:endParaRPr lang="de-DE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4BEA76BE-C66E-40AF-561F-D5C35602D27A}"/>
              </a:ext>
            </a:extLst>
          </p:cNvPr>
          <p:cNvSpPr/>
          <p:nvPr/>
        </p:nvSpPr>
        <p:spPr>
          <a:xfrm>
            <a:off x="4596195" y="5600844"/>
            <a:ext cx="1938271" cy="5704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bg2">
                    <a:lumMod val="25000"/>
                  </a:schemeClr>
                </a:solidFill>
              </a:rPr>
              <a:t>0</a:t>
            </a:r>
          </a:p>
          <a:p>
            <a:pPr algn="ctr"/>
            <a:r>
              <a:rPr lang="de-DE" sz="1200" b="1" dirty="0">
                <a:solidFill>
                  <a:schemeClr val="bg2">
                    <a:lumMod val="25000"/>
                  </a:schemeClr>
                </a:solidFill>
              </a:rPr>
              <a:t>Prior/</a:t>
            </a:r>
            <a:r>
              <a:rPr lang="de-DE" sz="1200" b="1" dirty="0" err="1">
                <a:solidFill>
                  <a:schemeClr val="bg2">
                    <a:lumMod val="25000"/>
                  </a:schemeClr>
                </a:solidFill>
              </a:rPr>
              <a:t>train</a:t>
            </a:r>
            <a:r>
              <a:rPr lang="de-DE" sz="12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200" b="1" dirty="0" err="1">
                <a:solidFill>
                  <a:schemeClr val="bg2">
                    <a:lumMod val="25000"/>
                  </a:schemeClr>
                </a:solidFill>
              </a:rPr>
              <a:t>reconciliation</a:t>
            </a:r>
            <a:r>
              <a:rPr lang="de-DE" sz="12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200" b="1" dirty="0" err="1">
                <a:solidFill>
                  <a:schemeClr val="bg2">
                    <a:lumMod val="25000"/>
                  </a:schemeClr>
                </a:solidFill>
              </a:rPr>
              <a:t>mismatches</a:t>
            </a:r>
            <a:endParaRPr lang="de-DE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1" name="Rechteck 130">
            <a:extLst>
              <a:ext uri="{FF2B5EF4-FFF2-40B4-BE49-F238E27FC236}">
                <a16:creationId xmlns:a16="http://schemas.microsoft.com/office/drawing/2014/main" id="{45F4CF6A-7E4B-EC2B-FE1C-25CDF655F49C}"/>
              </a:ext>
            </a:extLst>
          </p:cNvPr>
          <p:cNvSpPr/>
          <p:nvPr/>
        </p:nvSpPr>
        <p:spPr>
          <a:xfrm>
            <a:off x="6768854" y="6171257"/>
            <a:ext cx="1938271" cy="385491"/>
          </a:xfrm>
          <a:prstGeom prst="rect">
            <a:avLst/>
          </a:prstGeom>
          <a:solidFill>
            <a:srgbClr val="FFD5D5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Flagged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for review,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records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de-DE" sz="1000" dirty="0" err="1">
                <a:solidFill>
                  <a:schemeClr val="bg2">
                    <a:lumMod val="25000"/>
                  </a:schemeClr>
                </a:solidFill>
              </a:rPr>
              <a:t>retained</a:t>
            </a:r>
            <a:endParaRPr lang="de-DE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5758498F-47F5-F151-ECAB-1B0C800A6F34}"/>
              </a:ext>
            </a:extLst>
          </p:cNvPr>
          <p:cNvSpPr/>
          <p:nvPr/>
        </p:nvSpPr>
        <p:spPr>
          <a:xfrm>
            <a:off x="6768853" y="5614280"/>
            <a:ext cx="1938271" cy="556975"/>
          </a:xfrm>
          <a:prstGeom prst="rect">
            <a:avLst/>
          </a:prstGeom>
          <a:solidFill>
            <a:srgbClr val="F7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10.18%</a:t>
            </a:r>
          </a:p>
          <a:p>
            <a:pPr algn="ctr"/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Historical order gaps at 30-day cap</a:t>
            </a:r>
            <a:endParaRPr lang="de-DE" sz="1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96CA3CA8-EEE5-FB83-B71F-DE5E38950027}"/>
              </a:ext>
            </a:extLst>
          </p:cNvPr>
          <p:cNvSpPr/>
          <p:nvPr/>
        </p:nvSpPr>
        <p:spPr>
          <a:xfrm>
            <a:off x="9271827" y="5899496"/>
            <a:ext cx="2586235" cy="631043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000" dirty="0">
                <a:solidFill>
                  <a:schemeClr val="bg2">
                    <a:lumMod val="25000"/>
                  </a:schemeClr>
                </a:solidFill>
              </a:rPr>
              <a:t>Questionable records were retained and flagged rather than deleted so that downstream totals and denominators remained auditable</a:t>
            </a:r>
            <a:endParaRPr lang="de-DE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hteck 136">
            <a:extLst>
              <a:ext uri="{FF2B5EF4-FFF2-40B4-BE49-F238E27FC236}">
                <a16:creationId xmlns:a16="http://schemas.microsoft.com/office/drawing/2014/main" id="{4DCD6199-7F3A-90BA-DCDD-015632C6D625}"/>
              </a:ext>
            </a:extLst>
          </p:cNvPr>
          <p:cNvSpPr/>
          <p:nvPr/>
        </p:nvSpPr>
        <p:spPr>
          <a:xfrm>
            <a:off x="9214833" y="5614280"/>
            <a:ext cx="2643227" cy="285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b="1" dirty="0">
                <a:solidFill>
                  <a:schemeClr val="tx1"/>
                </a:solidFill>
              </a:rPr>
              <a:t>Takeaway</a:t>
            </a:r>
          </a:p>
        </p:txBody>
      </p:sp>
      <p:pic>
        <p:nvPicPr>
          <p:cNvPr id="141" name="Grafik 140" descr="Glühbirne und Zahnrad Silhouette">
            <a:extLst>
              <a:ext uri="{FF2B5EF4-FFF2-40B4-BE49-F238E27FC236}">
                <a16:creationId xmlns:a16="http://schemas.microsoft.com/office/drawing/2014/main" id="{770B9B84-F494-1602-20DC-372C0A740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47949" y="5575618"/>
            <a:ext cx="323878" cy="323878"/>
          </a:xfrm>
          <a:prstGeom prst="rect">
            <a:avLst/>
          </a:prstGeom>
        </p:spPr>
      </p:pic>
      <p:pic>
        <p:nvPicPr>
          <p:cNvPr id="143" name="Grafik 142" descr="Abzeichen Tick1 mit einfarbiger Füllung">
            <a:extLst>
              <a:ext uri="{FF2B5EF4-FFF2-40B4-BE49-F238E27FC236}">
                <a16:creationId xmlns:a16="http://schemas.microsoft.com/office/drawing/2014/main" id="{B39F8A55-E9D6-A898-6587-036E98147A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9977" y="2252355"/>
            <a:ext cx="252000" cy="252000"/>
          </a:xfrm>
          <a:prstGeom prst="rect">
            <a:avLst/>
          </a:prstGeom>
        </p:spPr>
      </p:pic>
      <p:pic>
        <p:nvPicPr>
          <p:cNvPr id="145" name="Grafik 144" descr="Abzeichen Tick1 mit einfarbiger Füllung">
            <a:extLst>
              <a:ext uri="{FF2B5EF4-FFF2-40B4-BE49-F238E27FC236}">
                <a16:creationId xmlns:a16="http://schemas.microsoft.com/office/drawing/2014/main" id="{FDA61D11-B115-B572-E6B1-CE3EB3094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9977" y="2581959"/>
            <a:ext cx="252000" cy="252000"/>
          </a:xfrm>
          <a:prstGeom prst="rect">
            <a:avLst/>
          </a:prstGeom>
        </p:spPr>
      </p:pic>
      <p:pic>
        <p:nvPicPr>
          <p:cNvPr id="147" name="Grafik 146" descr="Abzeichen Tick1 mit einfarbiger Füllung">
            <a:extLst>
              <a:ext uri="{FF2B5EF4-FFF2-40B4-BE49-F238E27FC236}">
                <a16:creationId xmlns:a16="http://schemas.microsoft.com/office/drawing/2014/main" id="{BDBCEACD-0957-D5C7-96CF-0C7DFAB1F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9977" y="2956296"/>
            <a:ext cx="252000" cy="252000"/>
          </a:xfrm>
          <a:prstGeom prst="rect">
            <a:avLst/>
          </a:prstGeom>
        </p:spPr>
      </p:pic>
      <p:pic>
        <p:nvPicPr>
          <p:cNvPr id="149" name="Grafik 148" descr="Abzeichen Tick1 mit einfarbiger Füllung">
            <a:extLst>
              <a:ext uri="{FF2B5EF4-FFF2-40B4-BE49-F238E27FC236}">
                <a16:creationId xmlns:a16="http://schemas.microsoft.com/office/drawing/2014/main" id="{08E1624E-B61F-FBD4-C225-7081E4C69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9977" y="3311466"/>
            <a:ext cx="252000" cy="252000"/>
          </a:xfrm>
          <a:prstGeom prst="rect">
            <a:avLst/>
          </a:prstGeom>
        </p:spPr>
      </p:pic>
      <p:pic>
        <p:nvPicPr>
          <p:cNvPr id="151" name="Grafik 150" descr="Abzeichen Tick1 mit einfarbiger Füllung">
            <a:extLst>
              <a:ext uri="{FF2B5EF4-FFF2-40B4-BE49-F238E27FC236}">
                <a16:creationId xmlns:a16="http://schemas.microsoft.com/office/drawing/2014/main" id="{744579D3-CBEC-748B-79FE-03EB948ED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9977" y="3684363"/>
            <a:ext cx="252000" cy="252000"/>
          </a:xfrm>
          <a:prstGeom prst="rect">
            <a:avLst/>
          </a:prstGeom>
        </p:spPr>
      </p:pic>
      <p:pic>
        <p:nvPicPr>
          <p:cNvPr id="153" name="Grafik 152" descr="Abzeichen Tick1 mit einfarbiger Füllung">
            <a:extLst>
              <a:ext uri="{FF2B5EF4-FFF2-40B4-BE49-F238E27FC236}">
                <a16:creationId xmlns:a16="http://schemas.microsoft.com/office/drawing/2014/main" id="{3B24C94B-BD24-8975-4603-3A69BF99D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9977" y="4019277"/>
            <a:ext cx="252000" cy="252000"/>
          </a:xfrm>
          <a:prstGeom prst="rect">
            <a:avLst/>
          </a:prstGeom>
        </p:spPr>
      </p:pic>
      <p:pic>
        <p:nvPicPr>
          <p:cNvPr id="155" name="Grafik 154" descr="Abzeichen Tick1 mit einfarbiger Füllung">
            <a:extLst>
              <a:ext uri="{FF2B5EF4-FFF2-40B4-BE49-F238E27FC236}">
                <a16:creationId xmlns:a16="http://schemas.microsoft.com/office/drawing/2014/main" id="{DD6B3874-3ABB-D237-8EEE-C1990693DD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9977" y="4413676"/>
            <a:ext cx="252000" cy="252000"/>
          </a:xfrm>
          <a:prstGeom prst="rect">
            <a:avLst/>
          </a:prstGeom>
        </p:spPr>
      </p:pic>
      <p:pic>
        <p:nvPicPr>
          <p:cNvPr id="157" name="Grafik 156" descr="Abzeichen Tick1 mit einfarbiger Füllung">
            <a:extLst>
              <a:ext uri="{FF2B5EF4-FFF2-40B4-BE49-F238E27FC236}">
                <a16:creationId xmlns:a16="http://schemas.microsoft.com/office/drawing/2014/main" id="{036B16C3-A589-EA8C-47B0-586059110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9977" y="4773372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18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983B-E293-BD67-1211-B1D5788FE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921D7-EDAD-27C0-6977-87B98E5F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Customers show signs of weakening engagement when their ordering frequency slows relative to historical behavior, while basket size adds limited additional insight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1CF6CD3-0AA8-8233-215F-0329DF1712F3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B18185BA-909D-6E4D-ED98-6D7FECD4F2DA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SQL business-</a:t>
            </a:r>
            <a:r>
              <a:rPr lang="de-DE" sz="1200" b="1" dirty="0" err="1"/>
              <a:t>insight</a:t>
            </a:r>
            <a:r>
              <a:rPr lang="de-DE" sz="1200" b="1" dirty="0"/>
              <a:t> </a:t>
            </a:r>
            <a:r>
              <a:rPr lang="de-DE" sz="1200" b="1" dirty="0" err="1"/>
              <a:t>queries</a:t>
            </a:r>
            <a:r>
              <a:rPr lang="de-DE" sz="1200" b="1" dirty="0"/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EB9C09-FF79-6161-C2E0-4F0E3B7DD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559" y="1120453"/>
            <a:ext cx="3708000" cy="353699"/>
          </a:xfr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>
            <a:normAutofit/>
          </a:bodyPr>
          <a:lstStyle/>
          <a:p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</a:t>
            </a:r>
            <a:r>
              <a:rPr lang="de-DE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C3EA4324-60AB-1FD3-5DDF-81DEFB669EB8}"/>
              </a:ext>
            </a:extLst>
          </p:cNvPr>
          <p:cNvSpPr txBox="1">
            <a:spLocks/>
          </p:cNvSpPr>
          <p:nvPr/>
        </p:nvSpPr>
        <p:spPr>
          <a:xfrm>
            <a:off x="4242000" y="1120454"/>
            <a:ext cx="3708000" cy="353699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Risk by Historical Frequency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0546237-2ADD-C074-B5AA-594DB1B83FB2}"/>
              </a:ext>
            </a:extLst>
          </p:cNvPr>
          <p:cNvSpPr txBox="1">
            <a:spLocks/>
          </p:cNvSpPr>
          <p:nvPr/>
        </p:nvSpPr>
        <p:spPr>
          <a:xfrm>
            <a:off x="8153441" y="1120453"/>
            <a:ext cx="3708000" cy="353699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Basket Size Has Limited Additional Signal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3E789E-C9E9-8C3B-A50E-B553E4A8BFE1}"/>
              </a:ext>
            </a:extLst>
          </p:cNvPr>
          <p:cNvSpPr txBox="1"/>
          <p:nvPr/>
        </p:nvSpPr>
        <p:spPr>
          <a:xfrm>
            <a:off x="328410" y="1526146"/>
            <a:ext cx="370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 segment customers based on historical ordering frequency and basket size, resulting in 9 behavioral segments</a:t>
            </a:r>
            <a:endParaRPr lang="de-DE" sz="12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DDB4DE0-C3DD-1955-DCC1-864C44448888}"/>
              </a:ext>
            </a:extLst>
          </p:cNvPr>
          <p:cNvSpPr txBox="1"/>
          <p:nvPr/>
        </p:nvSpPr>
        <p:spPr>
          <a:xfrm>
            <a:off x="4240926" y="1526146"/>
            <a:ext cx="370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Among assessable customers, the share classified as Weakening or High Concern is highest for Frequent customers, but at-risk customers exist across all segments</a:t>
            </a:r>
            <a:endParaRPr lang="de-DE" sz="12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615C4C2-F42E-69D3-0E74-FEC5B952DA3E}"/>
              </a:ext>
            </a:extLst>
          </p:cNvPr>
          <p:cNvSpPr txBox="1"/>
          <p:nvPr/>
        </p:nvSpPr>
        <p:spPr>
          <a:xfrm>
            <a:off x="8153441" y="1526146"/>
            <a:ext cx="370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Average days between orders are similar across basket size segments, indicating that basket size is not a strong predictor of when customers return</a:t>
            </a:r>
            <a:endParaRPr lang="de-DE" sz="1200" dirty="0"/>
          </a:p>
        </p:txBody>
      </p: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370D23B4-D09B-B660-7B55-36370B400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92249"/>
              </p:ext>
            </p:extLst>
          </p:nvPr>
        </p:nvGraphicFramePr>
        <p:xfrm>
          <a:off x="328410" y="2720638"/>
          <a:ext cx="3708000" cy="10721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49397">
                  <a:extLst>
                    <a:ext uri="{9D8B030D-6E8A-4147-A177-3AD203B41FA5}">
                      <a16:colId xmlns:a16="http://schemas.microsoft.com/office/drawing/2014/main" val="430517634"/>
                    </a:ext>
                  </a:extLst>
                </a:gridCol>
                <a:gridCol w="2258603">
                  <a:extLst>
                    <a:ext uri="{9D8B030D-6E8A-4147-A177-3AD203B41FA5}">
                      <a16:colId xmlns:a16="http://schemas.microsoft.com/office/drawing/2014/main" val="4278253315"/>
                    </a:ext>
                  </a:extLst>
                </a:gridCol>
              </a:tblGrid>
              <a:tr h="2680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Segment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Definition (</a:t>
                      </a:r>
                      <a:r>
                        <a:rPr lang="de-DE" sz="12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days</a:t>
                      </a:r>
                      <a:r>
                        <a:rPr lang="de-DE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03319"/>
                  </a:ext>
                </a:extLst>
              </a:tr>
              <a:tr h="268047">
                <a:tc>
                  <a:txBody>
                    <a:bodyPr/>
                    <a:lstStyle/>
                    <a:p>
                      <a:r>
                        <a:rPr lang="de-DE" sz="1200" dirty="0"/>
                        <a:t>Frequent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≤ 9 </a:t>
                      </a:r>
                      <a:r>
                        <a:rPr kumimoji="0" lang="de-DE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days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E8E8E8">
                            <a:lumMod val="25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5736852"/>
                  </a:ext>
                </a:extLst>
              </a:tr>
              <a:tr h="268047">
                <a:tc>
                  <a:txBody>
                    <a:bodyPr/>
                    <a:lstStyle/>
                    <a:p>
                      <a:r>
                        <a:rPr lang="de-DE" sz="1200" dirty="0"/>
                        <a:t>Regular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&gt; 9 to ≤ 20 </a:t>
                      </a:r>
                      <a:r>
                        <a:rPr kumimoji="0" lang="de-DE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days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E8E8E8">
                            <a:lumMod val="25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331766"/>
                  </a:ext>
                </a:extLst>
              </a:tr>
              <a:tr h="268047">
                <a:tc>
                  <a:txBody>
                    <a:bodyPr/>
                    <a:lstStyle/>
                    <a:p>
                      <a:r>
                        <a:rPr lang="de-DE" sz="1200" dirty="0" err="1"/>
                        <a:t>Infrequent</a:t>
                      </a:r>
                      <a:endParaRPr lang="de-DE" sz="1200" dirty="0"/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5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&gt; 20 </a:t>
                      </a:r>
                      <a:r>
                        <a:rPr kumimoji="0" lang="de-DE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days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E8E8E8">
                            <a:lumMod val="25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853293"/>
                  </a:ext>
                </a:extLst>
              </a:tr>
            </a:tbl>
          </a:graphicData>
        </a:graphic>
      </p:graphicFrame>
      <p:graphicFrame>
        <p:nvGraphicFramePr>
          <p:cNvPr id="20" name="Tabelle 19">
            <a:extLst>
              <a:ext uri="{FF2B5EF4-FFF2-40B4-BE49-F238E27FC236}">
                <a16:creationId xmlns:a16="http://schemas.microsoft.com/office/drawing/2014/main" id="{6E9E63CB-2DC1-9626-79DD-49BCB80B1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143183"/>
              </p:ext>
            </p:extLst>
          </p:nvPr>
        </p:nvGraphicFramePr>
        <p:xfrm>
          <a:off x="328410" y="4340987"/>
          <a:ext cx="3708000" cy="10721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49397">
                  <a:extLst>
                    <a:ext uri="{9D8B030D-6E8A-4147-A177-3AD203B41FA5}">
                      <a16:colId xmlns:a16="http://schemas.microsoft.com/office/drawing/2014/main" val="430517634"/>
                    </a:ext>
                  </a:extLst>
                </a:gridCol>
                <a:gridCol w="2258603">
                  <a:extLst>
                    <a:ext uri="{9D8B030D-6E8A-4147-A177-3AD203B41FA5}">
                      <a16:colId xmlns:a16="http://schemas.microsoft.com/office/drawing/2014/main" val="4278253315"/>
                    </a:ext>
                  </a:extLst>
                </a:gridCol>
              </a:tblGrid>
              <a:tr h="2680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Segment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Definition (</a:t>
                      </a:r>
                      <a:r>
                        <a:rPr lang="de-DE" sz="12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days</a:t>
                      </a:r>
                      <a:r>
                        <a:rPr lang="de-DE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03319"/>
                  </a:ext>
                </a:extLst>
              </a:tr>
              <a:tr h="268047">
                <a:tc>
                  <a:txBody>
                    <a:bodyPr/>
                    <a:lstStyle/>
                    <a:p>
                      <a:r>
                        <a:rPr lang="de-DE" sz="1200" dirty="0"/>
                        <a:t>Small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de-DE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≤ 8 </a:t>
                      </a:r>
                      <a:r>
                        <a:rPr kumimoji="0" lang="de-DE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items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E8E8E8">
                            <a:lumMod val="25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736852"/>
                  </a:ext>
                </a:extLst>
              </a:tr>
              <a:tr h="268047">
                <a:tc>
                  <a:txBody>
                    <a:bodyPr/>
                    <a:lstStyle/>
                    <a:p>
                      <a:r>
                        <a:rPr lang="de-DE" sz="1200" dirty="0"/>
                        <a:t>Medium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de-DE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&gt; 8 to &lt; 18 </a:t>
                      </a:r>
                      <a:r>
                        <a:rPr kumimoji="0" lang="de-DE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items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E8E8E8">
                            <a:lumMod val="25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31766"/>
                  </a:ext>
                </a:extLst>
              </a:tr>
              <a:tr h="268047">
                <a:tc>
                  <a:txBody>
                    <a:bodyPr/>
                    <a:lstStyle/>
                    <a:p>
                      <a:r>
                        <a:rPr lang="de-DE" sz="1200" dirty="0"/>
                        <a:t>Large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de-DE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≥ 18 </a:t>
                      </a:r>
                      <a:r>
                        <a:rPr kumimoji="0" lang="de-DE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E8E8E8">
                              <a:lumMod val="25000"/>
                            </a:srgb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items</a:t>
                      </a:r>
                      <a:endParaRPr kumimoji="0" lang="de-DE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E8E8E8">
                            <a:lumMod val="25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853293"/>
                  </a:ext>
                </a:extLst>
              </a:tr>
            </a:tbl>
          </a:graphicData>
        </a:graphic>
      </p:graphicFrame>
      <p:sp>
        <p:nvSpPr>
          <p:cNvPr id="21" name="Textfeld 20">
            <a:extLst>
              <a:ext uri="{FF2B5EF4-FFF2-40B4-BE49-F238E27FC236}">
                <a16:creationId xmlns:a16="http://schemas.microsoft.com/office/drawing/2014/main" id="{1BA229CD-131D-2D6F-42A9-C8F47FEF2E70}"/>
              </a:ext>
            </a:extLst>
          </p:cNvPr>
          <p:cNvSpPr txBox="1"/>
          <p:nvPr/>
        </p:nvSpPr>
        <p:spPr>
          <a:xfrm>
            <a:off x="244697" y="2235249"/>
            <a:ext cx="31682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 err="1"/>
              <a:t>Ordering</a:t>
            </a:r>
            <a:r>
              <a:rPr lang="de-DE" sz="1400" b="1" dirty="0"/>
              <a:t> </a:t>
            </a:r>
            <a:r>
              <a:rPr lang="de-DE" sz="1400" b="1" dirty="0" err="1"/>
              <a:t>Frequency</a:t>
            </a:r>
            <a:endParaRPr lang="de-DE" sz="1400" b="1" dirty="0"/>
          </a:p>
          <a:p>
            <a:r>
              <a:rPr lang="de-DE" sz="1200" dirty="0"/>
              <a:t>(</a:t>
            </a:r>
            <a:r>
              <a:rPr lang="de-DE" sz="1200" dirty="0" err="1"/>
              <a:t>average</a:t>
            </a:r>
            <a:r>
              <a:rPr lang="de-DE" sz="1200" dirty="0"/>
              <a:t> </a:t>
            </a:r>
            <a:r>
              <a:rPr lang="de-DE" sz="1200" dirty="0" err="1"/>
              <a:t>days</a:t>
            </a:r>
            <a:r>
              <a:rPr lang="de-DE" sz="1200" dirty="0"/>
              <a:t> </a:t>
            </a:r>
            <a:r>
              <a:rPr lang="de-DE" sz="1200" dirty="0" err="1"/>
              <a:t>between</a:t>
            </a:r>
            <a:r>
              <a:rPr lang="de-DE" sz="1200" dirty="0"/>
              <a:t> </a:t>
            </a:r>
            <a:r>
              <a:rPr lang="de-DE" sz="1200" dirty="0" err="1"/>
              <a:t>orders</a:t>
            </a:r>
            <a:r>
              <a:rPr lang="de-DE" sz="1200" dirty="0"/>
              <a:t>) 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8CD14D7-25C4-0789-E724-B09B3F769212}"/>
              </a:ext>
            </a:extLst>
          </p:cNvPr>
          <p:cNvSpPr txBox="1"/>
          <p:nvPr/>
        </p:nvSpPr>
        <p:spPr>
          <a:xfrm>
            <a:off x="244697" y="3884087"/>
            <a:ext cx="31682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Basket Size</a:t>
            </a:r>
          </a:p>
          <a:p>
            <a:r>
              <a:rPr lang="de-DE" sz="1200" dirty="0"/>
              <a:t>(</a:t>
            </a:r>
            <a:r>
              <a:rPr lang="de-DE" sz="1200" dirty="0" err="1"/>
              <a:t>items</a:t>
            </a:r>
            <a:r>
              <a:rPr lang="de-DE" sz="1200" dirty="0"/>
              <a:t> per </a:t>
            </a:r>
            <a:r>
              <a:rPr lang="de-DE" sz="1200" dirty="0" err="1"/>
              <a:t>order</a:t>
            </a:r>
            <a:r>
              <a:rPr lang="de-DE" sz="1200" dirty="0"/>
              <a:t>) </a:t>
            </a:r>
          </a:p>
        </p:txBody>
      </p:sp>
      <p:graphicFrame>
        <p:nvGraphicFramePr>
          <p:cNvPr id="26" name="Diagramm 25">
            <a:extLst>
              <a:ext uri="{FF2B5EF4-FFF2-40B4-BE49-F238E27FC236}">
                <a16:creationId xmlns:a16="http://schemas.microsoft.com/office/drawing/2014/main" id="{C1244E5B-2ACC-98CE-A12C-CC3E7EDECE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9431685"/>
              </p:ext>
            </p:extLst>
          </p:nvPr>
        </p:nvGraphicFramePr>
        <p:xfrm>
          <a:off x="4603403" y="2483510"/>
          <a:ext cx="3209502" cy="1864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feld 26">
            <a:extLst>
              <a:ext uri="{FF2B5EF4-FFF2-40B4-BE49-F238E27FC236}">
                <a16:creationId xmlns:a16="http://schemas.microsoft.com/office/drawing/2014/main" id="{E1C3DD0A-2616-D17C-5CE6-CC8A64A58A55}"/>
              </a:ext>
            </a:extLst>
          </p:cNvPr>
          <p:cNvSpPr txBox="1"/>
          <p:nvPr/>
        </p:nvSpPr>
        <p:spPr>
          <a:xfrm>
            <a:off x="8153441" y="1998714"/>
            <a:ext cx="338554" cy="183797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de-DE" sz="1000" dirty="0" err="1"/>
              <a:t>Avergae</a:t>
            </a:r>
            <a:r>
              <a:rPr lang="de-DE" sz="1000" dirty="0"/>
              <a:t> </a:t>
            </a:r>
            <a:r>
              <a:rPr lang="de-DE" sz="1000" dirty="0" err="1"/>
              <a:t>days</a:t>
            </a:r>
            <a:r>
              <a:rPr lang="de-DE" sz="1000" dirty="0"/>
              <a:t> </a:t>
            </a:r>
            <a:r>
              <a:rPr lang="de-DE" sz="1000" dirty="0" err="1"/>
              <a:t>between</a:t>
            </a:r>
            <a:r>
              <a:rPr lang="de-DE" sz="1000" dirty="0"/>
              <a:t> </a:t>
            </a:r>
            <a:r>
              <a:rPr lang="de-DE" sz="1000" dirty="0" err="1"/>
              <a:t>orders</a:t>
            </a:r>
            <a:endParaRPr lang="de-DE" sz="10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D3A1560-8DE0-DAD5-1BA7-7531FFF73A73}"/>
              </a:ext>
            </a:extLst>
          </p:cNvPr>
          <p:cNvSpPr txBox="1"/>
          <p:nvPr/>
        </p:nvSpPr>
        <p:spPr>
          <a:xfrm>
            <a:off x="5226912" y="4283715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Frequent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02F3A1C-F535-3B25-6F19-5C08C793878C}"/>
              </a:ext>
            </a:extLst>
          </p:cNvPr>
          <p:cNvSpPr txBox="1"/>
          <p:nvPr/>
        </p:nvSpPr>
        <p:spPr>
          <a:xfrm>
            <a:off x="6135879" y="4286178"/>
            <a:ext cx="6351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Regular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500EF3E-FFF0-3551-91C9-FA2B0C42B7DC}"/>
              </a:ext>
            </a:extLst>
          </p:cNvPr>
          <p:cNvSpPr txBox="1"/>
          <p:nvPr/>
        </p:nvSpPr>
        <p:spPr>
          <a:xfrm>
            <a:off x="6918314" y="4283714"/>
            <a:ext cx="7986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 err="1"/>
              <a:t>Infrequent</a:t>
            </a:r>
            <a:endParaRPr lang="de-DE" sz="1000" b="1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1FCBC5B-FC92-374A-19CC-D60BDE95BDD2}"/>
              </a:ext>
            </a:extLst>
          </p:cNvPr>
          <p:cNvSpPr txBox="1"/>
          <p:nvPr/>
        </p:nvSpPr>
        <p:spPr>
          <a:xfrm>
            <a:off x="4316889" y="2631666"/>
            <a:ext cx="338554" cy="1531830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de-DE" sz="1000" dirty="0"/>
              <a:t>Share of </a:t>
            </a:r>
            <a:r>
              <a:rPr lang="de-DE" sz="1000" dirty="0" err="1"/>
              <a:t>customers</a:t>
            </a:r>
            <a:r>
              <a:rPr lang="de-DE" sz="1000" dirty="0"/>
              <a:t> at </a:t>
            </a:r>
            <a:r>
              <a:rPr lang="de-DE" sz="1000" dirty="0" err="1"/>
              <a:t>risk</a:t>
            </a:r>
            <a:endParaRPr lang="de-DE" sz="1000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8200DEC-8D90-8C4D-39EA-E92A7417B32C}"/>
              </a:ext>
            </a:extLst>
          </p:cNvPr>
          <p:cNvSpPr/>
          <p:nvPr/>
        </p:nvSpPr>
        <p:spPr>
          <a:xfrm>
            <a:off x="328410" y="5580485"/>
            <a:ext cx="11533029" cy="743037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        	Key 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Insights</a:t>
            </a:r>
            <a:endParaRPr lang="de-DE" sz="14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de-DE" sz="1200" b="1" dirty="0">
                <a:solidFill>
                  <a:schemeClr val="tx1"/>
                </a:solidFill>
              </a:rPr>
              <a:t>	</a:t>
            </a:r>
            <a:r>
              <a:rPr lang="de-DE" sz="1200" dirty="0">
                <a:solidFill>
                  <a:schemeClr val="tx1"/>
                </a:solidFill>
              </a:rPr>
              <a:t>A </a:t>
            </a:r>
            <a:r>
              <a:rPr lang="de-DE" sz="1200" dirty="0" err="1">
                <a:solidFill>
                  <a:schemeClr val="tx1"/>
                </a:solidFill>
              </a:rPr>
              <a:t>customer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is</a:t>
            </a:r>
            <a:r>
              <a:rPr lang="de-DE" sz="1200" dirty="0">
                <a:solidFill>
                  <a:schemeClr val="tx1"/>
                </a:solidFill>
              </a:rPr>
              <a:t> not at </a:t>
            </a:r>
            <a:r>
              <a:rPr lang="de-DE" sz="1200" dirty="0" err="1">
                <a:solidFill>
                  <a:schemeClr val="tx1"/>
                </a:solidFill>
              </a:rPr>
              <a:t>risk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simply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because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they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order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infrequently</a:t>
            </a:r>
            <a:endParaRPr lang="de-DE" sz="1200" dirty="0">
              <a:solidFill>
                <a:schemeClr val="tx1"/>
              </a:solidFill>
            </a:endParaRPr>
          </a:p>
          <a:p>
            <a:r>
              <a:rPr lang="de-DE" sz="1200" dirty="0">
                <a:solidFill>
                  <a:schemeClr val="tx1"/>
                </a:solidFill>
              </a:rPr>
              <a:t>	</a:t>
            </a:r>
            <a:r>
              <a:rPr lang="de-DE" sz="1200" dirty="0" err="1">
                <a:solidFill>
                  <a:schemeClr val="tx1"/>
                </a:solidFill>
              </a:rPr>
              <a:t>Weakening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engagement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becomes</a:t>
            </a:r>
            <a:r>
              <a:rPr lang="de-DE" sz="1200" dirty="0">
                <a:solidFill>
                  <a:schemeClr val="tx1"/>
                </a:solidFill>
              </a:rPr>
              <a:t> visible </a:t>
            </a:r>
            <a:r>
              <a:rPr lang="de-DE" sz="1200" dirty="0" err="1">
                <a:solidFill>
                  <a:schemeClr val="tx1"/>
                </a:solidFill>
              </a:rPr>
              <a:t>when</a:t>
            </a:r>
            <a:r>
              <a:rPr lang="de-DE" sz="1200" dirty="0">
                <a:solidFill>
                  <a:schemeClr val="tx1"/>
                </a:solidFill>
              </a:rPr>
              <a:t> a </a:t>
            </a:r>
            <a:r>
              <a:rPr lang="de-DE" sz="1200" dirty="0" err="1">
                <a:solidFill>
                  <a:schemeClr val="tx1"/>
                </a:solidFill>
              </a:rPr>
              <a:t>customer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starts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returning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materially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later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than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expected</a:t>
            </a:r>
            <a:r>
              <a:rPr lang="de-DE" sz="1200" dirty="0">
                <a:solidFill>
                  <a:schemeClr val="tx1"/>
                </a:solidFill>
              </a:rPr>
              <a:t> relative to </a:t>
            </a:r>
            <a:r>
              <a:rPr lang="de-DE" sz="1200" dirty="0" err="1">
                <a:solidFill>
                  <a:schemeClr val="tx1"/>
                </a:solidFill>
              </a:rPr>
              <a:t>their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historical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ordering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pattern</a:t>
            </a:r>
            <a:r>
              <a:rPr lang="de-DE" sz="1400" b="1" dirty="0"/>
              <a:t>.</a:t>
            </a:r>
            <a:endParaRPr lang="de-DE" sz="1400" dirty="0"/>
          </a:p>
          <a:p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sp>
        <p:nvSpPr>
          <p:cNvPr id="42" name="Flussdiagramm: Verbinder 41">
            <a:extLst>
              <a:ext uri="{FF2B5EF4-FFF2-40B4-BE49-F238E27FC236}">
                <a16:creationId xmlns:a16="http://schemas.microsoft.com/office/drawing/2014/main" id="{3B9101F0-7C46-4FE4-6E1C-73D1BEE3C560}"/>
              </a:ext>
            </a:extLst>
          </p:cNvPr>
          <p:cNvSpPr>
            <a:spLocks noChangeAspect="1"/>
          </p:cNvSpPr>
          <p:nvPr/>
        </p:nvSpPr>
        <p:spPr>
          <a:xfrm>
            <a:off x="512391" y="5679810"/>
            <a:ext cx="540001" cy="54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0" name="Grafik 39" descr="Glühbirne und Zahnrad Silhouette">
            <a:extLst>
              <a:ext uri="{FF2B5EF4-FFF2-40B4-BE49-F238E27FC236}">
                <a16:creationId xmlns:a16="http://schemas.microsoft.com/office/drawing/2014/main" id="{0D02F0BE-72F5-BCD1-C1BD-3345983DD5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569" y="5705110"/>
            <a:ext cx="489399" cy="489399"/>
          </a:xfrm>
          <a:prstGeom prst="rect">
            <a:avLst/>
          </a:prstGeom>
        </p:spPr>
      </p:pic>
      <p:sp>
        <p:nvSpPr>
          <p:cNvPr id="47" name="Rechteck 46">
            <a:extLst>
              <a:ext uri="{FF2B5EF4-FFF2-40B4-BE49-F238E27FC236}">
                <a16:creationId xmlns:a16="http://schemas.microsoft.com/office/drawing/2014/main" id="{98611CEE-AC7F-6F41-8172-D26BF231FA17}"/>
              </a:ext>
            </a:extLst>
          </p:cNvPr>
          <p:cNvSpPr/>
          <p:nvPr/>
        </p:nvSpPr>
        <p:spPr>
          <a:xfrm>
            <a:off x="8170063" y="4102953"/>
            <a:ext cx="3707998" cy="131022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Key Takeaway from Basket Size Analysis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Average time between orders is ~15–16 days across all basket size segments.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Basket size provides limited additional signal for timing compared to ordering frequency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C2C836E3-12C5-D637-11F6-CCE06F0DAF4C}"/>
              </a:ext>
            </a:extLst>
          </p:cNvPr>
          <p:cNvSpPr txBox="1"/>
          <p:nvPr/>
        </p:nvSpPr>
        <p:spPr>
          <a:xfrm>
            <a:off x="9003407" y="3677769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Small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A1D7FC-3272-032B-2233-8CABF3A16CCF}"/>
              </a:ext>
            </a:extLst>
          </p:cNvPr>
          <p:cNvSpPr txBox="1"/>
          <p:nvPr/>
        </p:nvSpPr>
        <p:spPr>
          <a:xfrm>
            <a:off x="9912374" y="3680232"/>
            <a:ext cx="6591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Medium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99841502-5D8C-46D4-2FBD-21FF6393A6F1}"/>
              </a:ext>
            </a:extLst>
          </p:cNvPr>
          <p:cNvSpPr txBox="1"/>
          <p:nvPr/>
        </p:nvSpPr>
        <p:spPr>
          <a:xfrm>
            <a:off x="10817838" y="3681437"/>
            <a:ext cx="5052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Large</a:t>
            </a:r>
          </a:p>
        </p:txBody>
      </p:sp>
      <p:graphicFrame>
        <p:nvGraphicFramePr>
          <p:cNvPr id="56" name="Diagramm 55">
            <a:extLst>
              <a:ext uri="{FF2B5EF4-FFF2-40B4-BE49-F238E27FC236}">
                <a16:creationId xmlns:a16="http://schemas.microsoft.com/office/drawing/2014/main" id="{B3D87359-0A46-1B79-F91A-4C1A98AC11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7625652"/>
              </p:ext>
            </p:extLst>
          </p:nvPr>
        </p:nvGraphicFramePr>
        <p:xfrm>
          <a:off x="8379898" y="2180927"/>
          <a:ext cx="3358457" cy="1626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0" name="Sprechblase: rechteckig 59">
            <a:extLst>
              <a:ext uri="{FF2B5EF4-FFF2-40B4-BE49-F238E27FC236}">
                <a16:creationId xmlns:a16="http://schemas.microsoft.com/office/drawing/2014/main" id="{278CBACC-7B69-50C6-4F9E-B41350493AE7}"/>
              </a:ext>
            </a:extLst>
          </p:cNvPr>
          <p:cNvSpPr/>
          <p:nvPr/>
        </p:nvSpPr>
        <p:spPr>
          <a:xfrm>
            <a:off x="4235499" y="4805103"/>
            <a:ext cx="3707998" cy="590716"/>
          </a:xfrm>
          <a:prstGeom prst="wedgeRectCallout">
            <a:avLst>
              <a:gd name="adj1" fmla="val -6329"/>
              <a:gd name="adj2" fmla="val -82885"/>
            </a:avLst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24.76%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assessable customers (29,712) are classified as Weakening or High Concern</a:t>
            </a:r>
          </a:p>
        </p:txBody>
      </p:sp>
    </p:spTree>
    <p:extLst>
      <p:ext uri="{BB962C8B-B14F-4D97-AF65-F5344CB8AC3E}">
        <p14:creationId xmlns:p14="http://schemas.microsoft.com/office/powerpoint/2010/main" val="2866642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864D-0C19-55C2-571A-1B5EDFB1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7D5130-6500-85AA-F7F8-20DD611DB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Python validates and prepares the SQL outputs for Tableau, enabling visualization of customer engagement and at-risk segments.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32978EC-26B6-FA0D-C6D2-D434CA4AC9FA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F26E32CD-31A9-E48F-5D26-C083BD36AFDC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Python / the Tableau-</a:t>
            </a:r>
            <a:r>
              <a:rPr lang="de-DE" sz="1200" b="1" dirty="0" err="1"/>
              <a:t>ready</a:t>
            </a:r>
            <a:r>
              <a:rPr lang="de-DE" sz="1200" b="1" dirty="0"/>
              <a:t> </a:t>
            </a:r>
            <a:r>
              <a:rPr lang="de-DE" sz="1200" b="1" dirty="0" err="1"/>
              <a:t>extract</a:t>
            </a:r>
            <a:endParaRPr lang="de-DE" sz="1200" b="1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963D939-5E1D-5D17-F5B9-A25603039933}"/>
              </a:ext>
            </a:extLst>
          </p:cNvPr>
          <p:cNvSpPr txBox="1"/>
          <p:nvPr/>
        </p:nvSpPr>
        <p:spPr>
          <a:xfrm>
            <a:off x="272067" y="1088258"/>
            <a:ext cx="60949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dirty="0"/>
              <a:t>Python Validation &amp; Data </a:t>
            </a:r>
            <a:r>
              <a:rPr lang="de-DE" sz="1600" b="1" dirty="0" err="1"/>
              <a:t>Preparation</a:t>
            </a:r>
            <a:endParaRPr lang="de-DE" sz="1600" b="1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9C78F33F-538E-A076-8931-3C1FEA9DD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084" y="1421291"/>
            <a:ext cx="5613511" cy="353699"/>
          </a:xfr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Results Validated in Python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17968D95-3511-2F1A-EB73-9A5EEFA42054}"/>
              </a:ext>
            </a:extLst>
          </p:cNvPr>
          <p:cNvSpPr txBox="1">
            <a:spLocks/>
          </p:cNvSpPr>
          <p:nvPr/>
        </p:nvSpPr>
        <p:spPr>
          <a:xfrm>
            <a:off x="328411" y="3485352"/>
            <a:ext cx="5613511" cy="353699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/>
              <a:t>Cleaning</a:t>
            </a:r>
            <a:r>
              <a:rPr lang="de-DE" sz="1600" dirty="0"/>
              <a:t> &amp; Validation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5237D2E2-C6B9-9FCF-4B17-CEE9505DF62B}"/>
              </a:ext>
            </a:extLst>
          </p:cNvPr>
          <p:cNvSpPr txBox="1">
            <a:spLocks/>
          </p:cNvSpPr>
          <p:nvPr/>
        </p:nvSpPr>
        <p:spPr>
          <a:xfrm>
            <a:off x="328410" y="4953995"/>
            <a:ext cx="5613511" cy="353699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Final Output for Tableau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EC1FD6A-1C19-A723-9877-EAADCCF8571A}"/>
              </a:ext>
            </a:extLst>
          </p:cNvPr>
          <p:cNvSpPr txBox="1"/>
          <p:nvPr/>
        </p:nvSpPr>
        <p:spPr>
          <a:xfrm>
            <a:off x="250834" y="1751977"/>
            <a:ext cx="576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metrics independently computed in Python match the SQL reference values</a:t>
            </a:r>
            <a:endParaRPr lang="de-DE" sz="120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95DB382-DD4C-5868-D4A6-1D59E76873C5}"/>
              </a:ext>
            </a:extLst>
          </p:cNvPr>
          <p:cNvSpPr txBox="1"/>
          <p:nvPr/>
        </p:nvSpPr>
        <p:spPr>
          <a:xfrm>
            <a:off x="272067" y="3890563"/>
            <a:ext cx="576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Applied required cleaning logic and ensured a consistent, analysis-ready dataset</a:t>
            </a:r>
            <a:endParaRPr lang="de-DE" sz="120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BCB3E2A-4D5E-21E1-FC58-5A35F58A49DE}"/>
              </a:ext>
            </a:extLst>
          </p:cNvPr>
          <p:cNvSpPr txBox="1"/>
          <p:nvPr/>
        </p:nvSpPr>
        <p:spPr>
          <a:xfrm>
            <a:off x="328410" y="5307694"/>
            <a:ext cx="576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Clean, merged customer-level dataset ready for visualization</a:t>
            </a:r>
            <a:endParaRPr lang="de-DE" sz="1200" dirty="0"/>
          </a:p>
        </p:txBody>
      </p:sp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6EDF8B23-E956-1AB0-34EA-F46C958A5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130959"/>
              </p:ext>
            </p:extLst>
          </p:nvPr>
        </p:nvGraphicFramePr>
        <p:xfrm>
          <a:off x="321280" y="2066125"/>
          <a:ext cx="5620641" cy="127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64086">
                  <a:extLst>
                    <a:ext uri="{9D8B030D-6E8A-4147-A177-3AD203B41FA5}">
                      <a16:colId xmlns:a16="http://schemas.microsoft.com/office/drawing/2014/main" val="4184662049"/>
                    </a:ext>
                  </a:extLst>
                </a:gridCol>
                <a:gridCol w="1442856">
                  <a:extLst>
                    <a:ext uri="{9D8B030D-6E8A-4147-A177-3AD203B41FA5}">
                      <a16:colId xmlns:a16="http://schemas.microsoft.com/office/drawing/2014/main" val="3396798770"/>
                    </a:ext>
                  </a:extLst>
                </a:gridCol>
                <a:gridCol w="1251327">
                  <a:extLst>
                    <a:ext uri="{9D8B030D-6E8A-4147-A177-3AD203B41FA5}">
                      <a16:colId xmlns:a16="http://schemas.microsoft.com/office/drawing/2014/main" val="3259184004"/>
                    </a:ext>
                  </a:extLst>
                </a:gridCol>
                <a:gridCol w="662372">
                  <a:extLst>
                    <a:ext uri="{9D8B030D-6E8A-4147-A177-3AD203B41FA5}">
                      <a16:colId xmlns:a16="http://schemas.microsoft.com/office/drawing/2014/main" val="2799934645"/>
                    </a:ext>
                  </a:extLst>
                </a:gridCol>
              </a:tblGrid>
              <a:tr h="212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 err="1">
                          <a:solidFill>
                            <a:schemeClr val="tx1"/>
                          </a:solidFill>
                        </a:rPr>
                        <a:t>Metric</a:t>
                      </a:r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tx1"/>
                          </a:solidFill>
                        </a:rPr>
                        <a:t>SQL Value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tx1"/>
                          </a:solidFill>
                        </a:rPr>
                        <a:t>Python Value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solidFill>
                            <a:schemeClr val="tx1"/>
                          </a:solidFill>
                        </a:rPr>
                        <a:t>Match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862931"/>
                  </a:ext>
                </a:extLst>
              </a:tr>
              <a:tr h="212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Total Prior Orders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3,214,874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3,214,874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200" dirty="0"/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25303"/>
                  </a:ext>
                </a:extLst>
              </a:tr>
              <a:tr h="212431">
                <a:tc>
                  <a:txBody>
                    <a:bodyPr/>
                    <a:lstStyle/>
                    <a:p>
                      <a:r>
                        <a:rPr lang="de-DE" sz="1200" dirty="0"/>
                        <a:t>Items per Basket (Average)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dirty="0"/>
                        <a:t>10.09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10.09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5951436"/>
                  </a:ext>
                </a:extLst>
              </a:tr>
              <a:tr h="212431">
                <a:tc>
                  <a:txBody>
                    <a:bodyPr/>
                    <a:lstStyle/>
                    <a:p>
                      <a:r>
                        <a:rPr lang="de-DE" sz="1200" dirty="0"/>
                        <a:t>Days </a:t>
                      </a:r>
                      <a:r>
                        <a:rPr lang="de-DE" sz="1200" dirty="0" err="1"/>
                        <a:t>Between</a:t>
                      </a:r>
                      <a:r>
                        <a:rPr lang="de-DE" sz="1200" dirty="0"/>
                        <a:t> Orders (Average)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10.71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e-DE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10.71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33881"/>
                  </a:ext>
                </a:extLst>
              </a:tr>
              <a:tr h="212431">
                <a:tc>
                  <a:txBody>
                    <a:bodyPr/>
                    <a:lstStyle/>
                    <a:p>
                      <a:r>
                        <a:rPr lang="de-DE" sz="1200" dirty="0" err="1"/>
                        <a:t>Reorder</a:t>
                      </a:r>
                      <a:r>
                        <a:rPr lang="de-DE" sz="1200" dirty="0"/>
                        <a:t> Rate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58.97%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58.97%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93488"/>
                  </a:ext>
                </a:extLst>
              </a:tr>
            </a:tbl>
          </a:graphicData>
        </a:graphic>
      </p:graphicFrame>
      <p:pic>
        <p:nvPicPr>
          <p:cNvPr id="26" name="Grafik 25" descr="Abzeichen Tick1 mit einfarbiger Füllung">
            <a:extLst>
              <a:ext uri="{FF2B5EF4-FFF2-40B4-BE49-F238E27FC236}">
                <a16:creationId xmlns:a16="http://schemas.microsoft.com/office/drawing/2014/main" id="{28B7770D-89DA-4542-8E01-E757BA4AE4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243" y="2329281"/>
            <a:ext cx="252000" cy="252000"/>
          </a:xfrm>
          <a:prstGeom prst="rect">
            <a:avLst/>
          </a:prstGeom>
        </p:spPr>
      </p:pic>
      <p:pic>
        <p:nvPicPr>
          <p:cNvPr id="28" name="Grafik 27" descr="Abzeichen Tick1 mit einfarbiger Füllung">
            <a:extLst>
              <a:ext uri="{FF2B5EF4-FFF2-40B4-BE49-F238E27FC236}">
                <a16:creationId xmlns:a16="http://schemas.microsoft.com/office/drawing/2014/main" id="{39C6FFCB-FFF9-E5E1-A25E-8CD090C73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6170" y="3087600"/>
            <a:ext cx="252000" cy="252000"/>
          </a:xfrm>
          <a:prstGeom prst="rect">
            <a:avLst/>
          </a:prstGeom>
        </p:spPr>
      </p:pic>
      <p:pic>
        <p:nvPicPr>
          <p:cNvPr id="30" name="Grafik 29" descr="Abzeichen Tick1 mit einfarbiger Füllung">
            <a:extLst>
              <a:ext uri="{FF2B5EF4-FFF2-40B4-BE49-F238E27FC236}">
                <a16:creationId xmlns:a16="http://schemas.microsoft.com/office/drawing/2014/main" id="{73D64DA4-988D-90AE-F35B-EBCF062B7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243" y="2582054"/>
            <a:ext cx="252000" cy="252000"/>
          </a:xfrm>
          <a:prstGeom prst="rect">
            <a:avLst/>
          </a:prstGeom>
        </p:spPr>
      </p:pic>
      <p:pic>
        <p:nvPicPr>
          <p:cNvPr id="32" name="Grafik 31" descr="Abzeichen Tick1 mit einfarbiger Füllung">
            <a:extLst>
              <a:ext uri="{FF2B5EF4-FFF2-40B4-BE49-F238E27FC236}">
                <a16:creationId xmlns:a16="http://schemas.microsoft.com/office/drawing/2014/main" id="{1EF41D84-5E9D-2BEA-A6E0-DD0E6B45C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6170" y="2834827"/>
            <a:ext cx="252000" cy="252000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D2ADB41F-03D1-8045-8216-7DB8E2816362}"/>
              </a:ext>
            </a:extLst>
          </p:cNvPr>
          <p:cNvSpPr txBox="1"/>
          <p:nvPr/>
        </p:nvSpPr>
        <p:spPr>
          <a:xfrm>
            <a:off x="328410" y="4116050"/>
            <a:ext cx="561351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Standardized data types and category labels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Handled capped 30-day gaps and insufficient history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Validated customer and segment merges</a:t>
            </a:r>
            <a:endParaRPr lang="de-DE" sz="1200" dirty="0"/>
          </a:p>
        </p:txBody>
      </p:sp>
      <p:pic>
        <p:nvPicPr>
          <p:cNvPr id="35" name="Grafik 34" descr="Abzeichen Tick1 mit einfarbiger Füllung">
            <a:extLst>
              <a:ext uri="{FF2B5EF4-FFF2-40B4-BE49-F238E27FC236}">
                <a16:creationId xmlns:a16="http://schemas.microsoft.com/office/drawing/2014/main" id="{EB60EA18-C803-7F61-5141-4781A5644F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235" y="4128549"/>
            <a:ext cx="252000" cy="252000"/>
          </a:xfrm>
          <a:prstGeom prst="rect">
            <a:avLst/>
          </a:prstGeom>
        </p:spPr>
      </p:pic>
      <p:pic>
        <p:nvPicPr>
          <p:cNvPr id="37" name="Grafik 36" descr="Abzeichen Tick1 mit einfarbiger Füllung">
            <a:extLst>
              <a:ext uri="{FF2B5EF4-FFF2-40B4-BE49-F238E27FC236}">
                <a16:creationId xmlns:a16="http://schemas.microsoft.com/office/drawing/2014/main" id="{BF27CC2E-3BE6-8ECD-5AED-716554C3D4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235" y="4386988"/>
            <a:ext cx="252000" cy="252000"/>
          </a:xfrm>
          <a:prstGeom prst="rect">
            <a:avLst/>
          </a:prstGeom>
        </p:spPr>
      </p:pic>
      <p:pic>
        <p:nvPicPr>
          <p:cNvPr id="39" name="Grafik 38" descr="Abzeichen Tick1 mit einfarbiger Füllung">
            <a:extLst>
              <a:ext uri="{FF2B5EF4-FFF2-40B4-BE49-F238E27FC236}">
                <a16:creationId xmlns:a16="http://schemas.microsoft.com/office/drawing/2014/main" id="{6E8A4679-9225-A218-2E1C-3D98C1789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235" y="4657548"/>
            <a:ext cx="252000" cy="252000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F7A7E16D-5F8E-7BB5-8B0A-0132CF46BA6E}"/>
              </a:ext>
            </a:extLst>
          </p:cNvPr>
          <p:cNvSpPr/>
          <p:nvPr/>
        </p:nvSpPr>
        <p:spPr>
          <a:xfrm>
            <a:off x="328410" y="5584693"/>
            <a:ext cx="1908000" cy="516499"/>
          </a:xfrm>
          <a:prstGeom prst="rect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206,209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sz="1200" dirty="0">
                <a:solidFill>
                  <a:schemeClr val="tx1"/>
                </a:solidFill>
              </a:rPr>
              <a:t>Customers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8500911A-DDDB-FB48-34E4-C09979BE24EE}"/>
              </a:ext>
            </a:extLst>
          </p:cNvPr>
          <p:cNvSpPr/>
          <p:nvPr/>
        </p:nvSpPr>
        <p:spPr>
          <a:xfrm>
            <a:off x="2235166" y="5584692"/>
            <a:ext cx="1908000" cy="516499"/>
          </a:xfrm>
          <a:prstGeom prst="rect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13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sz="1200" dirty="0">
                <a:solidFill>
                  <a:schemeClr val="tx1"/>
                </a:solidFill>
              </a:rPr>
              <a:t>Columns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0386923A-5EA0-9A73-D9E4-6ADE90FA2139}"/>
              </a:ext>
            </a:extLst>
          </p:cNvPr>
          <p:cNvSpPr/>
          <p:nvPr/>
        </p:nvSpPr>
        <p:spPr>
          <a:xfrm>
            <a:off x="4028727" y="5584692"/>
            <a:ext cx="1908000" cy="516499"/>
          </a:xfrm>
          <a:prstGeom prst="rect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b="1" dirty="0">
                <a:solidFill>
                  <a:schemeClr val="tx1"/>
                </a:solidFill>
              </a:rPr>
              <a:t>0 </a:t>
            </a:r>
            <a:r>
              <a:rPr lang="de-DE" sz="1200" dirty="0" err="1">
                <a:solidFill>
                  <a:schemeClr val="tx1"/>
                </a:solidFill>
              </a:rPr>
              <a:t>Duplicate</a:t>
            </a:r>
            <a:r>
              <a:rPr lang="de-DE" sz="1200" dirty="0">
                <a:solidFill>
                  <a:schemeClr val="tx1"/>
                </a:solidFill>
              </a:rPr>
              <a:t> Customer IDs</a:t>
            </a:r>
          </a:p>
          <a:p>
            <a:r>
              <a:rPr lang="de-DE" sz="1200" b="1" dirty="0">
                <a:solidFill>
                  <a:schemeClr val="tx1"/>
                </a:solidFill>
              </a:rPr>
              <a:t>0 </a:t>
            </a:r>
            <a:r>
              <a:rPr lang="de-DE" sz="1200" dirty="0">
                <a:solidFill>
                  <a:schemeClr val="tx1"/>
                </a:solidFill>
              </a:rPr>
              <a:t>Missing Source Values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8F778CA-20CB-4DBB-1B66-464B9E006238}"/>
              </a:ext>
            </a:extLst>
          </p:cNvPr>
          <p:cNvSpPr txBox="1"/>
          <p:nvPr/>
        </p:nvSpPr>
        <p:spPr>
          <a:xfrm>
            <a:off x="6097074" y="1088258"/>
            <a:ext cx="60949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dirty="0"/>
              <a:t>Tableau </a:t>
            </a:r>
            <a:r>
              <a:rPr lang="de-DE" sz="1600" b="1" dirty="0" err="1"/>
              <a:t>Visualization</a:t>
            </a:r>
            <a:r>
              <a:rPr lang="de-DE" sz="1600" b="1" dirty="0"/>
              <a:t> &amp; </a:t>
            </a:r>
            <a:r>
              <a:rPr lang="de-DE" sz="1600" b="1" dirty="0" err="1"/>
              <a:t>Insights</a:t>
            </a:r>
            <a:endParaRPr lang="de-DE" sz="1600" b="1" dirty="0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CB173D4F-40CD-AAF6-B1E4-B59FEAB40552}"/>
              </a:ext>
            </a:extLst>
          </p:cNvPr>
          <p:cNvSpPr txBox="1"/>
          <p:nvPr/>
        </p:nvSpPr>
        <p:spPr>
          <a:xfrm>
            <a:off x="6094926" y="1450895"/>
            <a:ext cx="576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Interactive </a:t>
            </a:r>
            <a:r>
              <a:rPr lang="de-DE" sz="1200" dirty="0" err="1"/>
              <a:t>dashboard</a:t>
            </a:r>
            <a:r>
              <a:rPr lang="de-DE" sz="1200" dirty="0"/>
              <a:t> </a:t>
            </a:r>
            <a:r>
              <a:rPr lang="de-DE" sz="1200" dirty="0" err="1"/>
              <a:t>visualizes</a:t>
            </a:r>
            <a:r>
              <a:rPr lang="de-DE" sz="1200" dirty="0"/>
              <a:t> </a:t>
            </a:r>
            <a:r>
              <a:rPr lang="de-DE" sz="1200" dirty="0" err="1"/>
              <a:t>engagement</a:t>
            </a:r>
            <a:r>
              <a:rPr lang="de-DE" sz="1200" dirty="0"/>
              <a:t> </a:t>
            </a:r>
            <a:r>
              <a:rPr lang="de-DE" sz="1200" dirty="0" err="1"/>
              <a:t>risk</a:t>
            </a:r>
            <a:r>
              <a:rPr lang="de-DE" sz="1200" dirty="0"/>
              <a:t> </a:t>
            </a:r>
            <a:r>
              <a:rPr lang="de-DE" sz="1200" dirty="0" err="1"/>
              <a:t>across</a:t>
            </a:r>
            <a:r>
              <a:rPr lang="de-DE" sz="1200" dirty="0"/>
              <a:t> </a:t>
            </a:r>
            <a:r>
              <a:rPr lang="de-DE" sz="1200" dirty="0" err="1"/>
              <a:t>customer</a:t>
            </a:r>
            <a:r>
              <a:rPr lang="de-DE" sz="1200" dirty="0"/>
              <a:t> </a:t>
            </a:r>
            <a:r>
              <a:rPr lang="de-DE" sz="1200" dirty="0" err="1"/>
              <a:t>segments</a:t>
            </a:r>
            <a:endParaRPr lang="de-DE" sz="1200" dirty="0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AA620146-B7CB-F3AE-BBC0-B7B52E4576A3}"/>
              </a:ext>
            </a:extLst>
          </p:cNvPr>
          <p:cNvSpPr/>
          <p:nvPr/>
        </p:nvSpPr>
        <p:spPr>
          <a:xfrm>
            <a:off x="6100120" y="4579158"/>
            <a:ext cx="1908000" cy="516499"/>
          </a:xfrm>
          <a:prstGeom prst="rect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29,712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At-Risk Customers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157AE434-8CA8-92B0-1C80-E35DC43139B7}"/>
              </a:ext>
            </a:extLst>
          </p:cNvPr>
          <p:cNvSpPr/>
          <p:nvPr/>
        </p:nvSpPr>
        <p:spPr>
          <a:xfrm>
            <a:off x="9953442" y="4578325"/>
            <a:ext cx="1908000" cy="516499"/>
          </a:xfrm>
          <a:prstGeom prst="rect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24.8%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At-Risk Rate*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7B98B0DB-9104-34CF-587A-0FCF7AC1DC61}"/>
              </a:ext>
            </a:extLst>
          </p:cNvPr>
          <p:cNvSpPr/>
          <p:nvPr/>
        </p:nvSpPr>
        <p:spPr>
          <a:xfrm>
            <a:off x="8022138" y="4578325"/>
            <a:ext cx="1944000" cy="516499"/>
          </a:xfrm>
          <a:prstGeom prst="rect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119,993 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Assessed</a:t>
            </a:r>
            <a:r>
              <a:rPr lang="de-DE" sz="1200" dirty="0">
                <a:solidFill>
                  <a:schemeClr val="tx1"/>
                </a:solidFill>
              </a:rPr>
              <a:t> Customer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DA902B2E-4EA4-7F0B-1FA1-4EE98B8A1CA8}"/>
              </a:ext>
            </a:extLst>
          </p:cNvPr>
          <p:cNvSpPr/>
          <p:nvPr/>
        </p:nvSpPr>
        <p:spPr>
          <a:xfrm>
            <a:off x="6094927" y="5499181"/>
            <a:ext cx="5766516" cy="74367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Frequent customers show the highest at-risk rates across basket-size segments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Basket size shows limited differences in engagement risk compared with ordering frequency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06F495BE-CC86-FABA-FA09-3F0000B00D76}"/>
              </a:ext>
            </a:extLst>
          </p:cNvPr>
          <p:cNvSpPr/>
          <p:nvPr/>
        </p:nvSpPr>
        <p:spPr>
          <a:xfrm>
            <a:off x="6094926" y="5213965"/>
            <a:ext cx="5766516" cy="2852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         Key Tableau </a:t>
            </a:r>
            <a:r>
              <a:rPr lang="de-DE" sz="1400" b="1" dirty="0" err="1">
                <a:solidFill>
                  <a:schemeClr val="bg2">
                    <a:lumMod val="25000"/>
                  </a:schemeClr>
                </a:solidFill>
              </a:rPr>
              <a:t>Insights</a:t>
            </a:r>
            <a:r>
              <a:rPr lang="de-DE" sz="1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63" name="Grafik 62" descr="Glühbirne und Zahnrad Silhouette">
            <a:extLst>
              <a:ext uri="{FF2B5EF4-FFF2-40B4-BE49-F238E27FC236}">
                <a16:creationId xmlns:a16="http://schemas.microsoft.com/office/drawing/2014/main" id="{855E36C6-2E4E-A266-AB74-0AA7B665D0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4925" y="5160393"/>
            <a:ext cx="323878" cy="323878"/>
          </a:xfrm>
          <a:prstGeom prst="rect">
            <a:avLst/>
          </a:prstGeom>
        </p:spPr>
      </p:pic>
      <p:sp>
        <p:nvSpPr>
          <p:cNvPr id="64" name="Textfeld 63">
            <a:extLst>
              <a:ext uri="{FF2B5EF4-FFF2-40B4-BE49-F238E27FC236}">
                <a16:creationId xmlns:a16="http://schemas.microsoft.com/office/drawing/2014/main" id="{CE14A80B-CCB9-19A9-CB5D-4CB773D15329}"/>
              </a:ext>
            </a:extLst>
          </p:cNvPr>
          <p:cNvSpPr txBox="1"/>
          <p:nvPr/>
        </p:nvSpPr>
        <p:spPr>
          <a:xfrm>
            <a:off x="6094925" y="6318252"/>
            <a:ext cx="19078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*</a:t>
            </a:r>
            <a:r>
              <a:rPr lang="de-DE" sz="1000" dirty="0" err="1"/>
              <a:t>Among</a:t>
            </a:r>
            <a:r>
              <a:rPr lang="de-DE" sz="1000" dirty="0"/>
              <a:t> </a:t>
            </a:r>
            <a:r>
              <a:rPr lang="de-DE" sz="1000" dirty="0" err="1"/>
              <a:t>assessable</a:t>
            </a:r>
            <a:r>
              <a:rPr lang="de-DE" sz="1000" dirty="0"/>
              <a:t> </a:t>
            </a:r>
            <a:r>
              <a:rPr lang="de-DE" sz="1000" dirty="0" err="1"/>
              <a:t>customers</a:t>
            </a:r>
            <a:endParaRPr lang="de-DE" sz="1000" dirty="0"/>
          </a:p>
        </p:txBody>
      </p:sp>
      <p:sp>
        <p:nvSpPr>
          <p:cNvPr id="70" name="Textplatzhalter 2">
            <a:extLst>
              <a:ext uri="{FF2B5EF4-FFF2-40B4-BE49-F238E27FC236}">
                <a16:creationId xmlns:a16="http://schemas.microsoft.com/office/drawing/2014/main" id="{C432405C-8B7C-1430-136D-DF8EDDB89020}"/>
              </a:ext>
            </a:extLst>
          </p:cNvPr>
          <p:cNvSpPr txBox="1">
            <a:spLocks/>
          </p:cNvSpPr>
          <p:nvPr/>
        </p:nvSpPr>
        <p:spPr>
          <a:xfrm>
            <a:off x="322954" y="6101191"/>
            <a:ext cx="5620641" cy="415519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de-DE" sz="1200" dirty="0">
                <a:solidFill>
                  <a:schemeClr val="bg1"/>
                </a:solidFill>
                <a:latin typeface="+mj-lt"/>
              </a:rPr>
              <a:t>final_customer_decision_tableau.csv</a:t>
            </a:r>
            <a:r>
              <a:rPr lang="de-DE" sz="12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de-DE" sz="1200" dirty="0">
              <a:solidFill>
                <a:schemeClr val="bg1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de-DE" sz="1200" b="0" dirty="0" err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de-DE" sz="1200" b="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as Input for the Tableau </a:t>
            </a:r>
            <a:r>
              <a:rPr lang="de-DE" sz="1200" b="0" dirty="0" err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  <a:endParaRPr lang="de-DE" sz="1200" b="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0C537C1-3EE4-146C-CB01-A1A246526C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515" t="15453" b="42317"/>
          <a:stretch>
            <a:fillRect/>
          </a:stretch>
        </p:blipFill>
        <p:spPr>
          <a:xfrm>
            <a:off x="6093357" y="1756703"/>
            <a:ext cx="5768085" cy="216346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F3C963E-D1A4-9DF4-976F-5D1817F44328}"/>
              </a:ext>
            </a:extLst>
          </p:cNvPr>
          <p:cNvSpPr/>
          <p:nvPr/>
        </p:nvSpPr>
        <p:spPr>
          <a:xfrm>
            <a:off x="6104001" y="4021783"/>
            <a:ext cx="5757441" cy="495918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de-DE" sz="1200" dirty="0">
                <a:solidFill>
                  <a:schemeClr val="tx1"/>
                </a:solidFill>
              </a:rPr>
              <a:t>Preview of the final Tableau-</a:t>
            </a:r>
            <a:r>
              <a:rPr lang="de-DE" sz="1200" dirty="0" err="1">
                <a:solidFill>
                  <a:schemeClr val="tx1"/>
                </a:solidFill>
              </a:rPr>
              <a:t>ready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extract</a:t>
            </a:r>
            <a:r>
              <a:rPr lang="de-DE" sz="1200" dirty="0">
                <a:solidFill>
                  <a:schemeClr val="tx1"/>
                </a:solidFill>
              </a:rPr>
              <a:t>, </a:t>
            </a:r>
            <a:r>
              <a:rPr lang="de-DE" sz="1200" dirty="0" err="1">
                <a:solidFill>
                  <a:schemeClr val="tx1"/>
                </a:solidFill>
              </a:rPr>
              <a:t>with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one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row</a:t>
            </a:r>
            <a:r>
              <a:rPr lang="de-DE" sz="1200" dirty="0">
                <a:solidFill>
                  <a:schemeClr val="tx1"/>
                </a:solidFill>
              </a:rPr>
              <a:t> per </a:t>
            </a:r>
            <a:r>
              <a:rPr lang="de-DE" sz="1200" dirty="0" err="1">
                <a:solidFill>
                  <a:schemeClr val="tx1"/>
                </a:solidFill>
              </a:rPr>
              <a:t>customer</a:t>
            </a:r>
            <a:r>
              <a:rPr lang="de-DE" sz="1200" dirty="0">
                <a:solidFill>
                  <a:schemeClr val="tx1"/>
                </a:solidFill>
              </a:rPr>
              <a:t> and the </a:t>
            </a:r>
            <a:r>
              <a:rPr lang="de-DE" sz="1200" dirty="0" err="1">
                <a:solidFill>
                  <a:schemeClr val="tx1"/>
                </a:solidFill>
              </a:rPr>
              <a:t>key</a:t>
            </a:r>
            <a:r>
              <a:rPr lang="de-DE" sz="1200" dirty="0">
                <a:solidFill>
                  <a:schemeClr val="tx1"/>
                </a:solidFill>
              </a:rPr>
              <a:t> behavioral and </a:t>
            </a:r>
            <a:r>
              <a:rPr lang="de-DE" sz="1200" dirty="0" err="1">
                <a:solidFill>
                  <a:schemeClr val="tx1"/>
                </a:solidFill>
              </a:rPr>
              <a:t>segmentation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fields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used</a:t>
            </a:r>
            <a:r>
              <a:rPr lang="de-DE" sz="1200" dirty="0">
                <a:solidFill>
                  <a:schemeClr val="tx1"/>
                </a:solidFill>
              </a:rPr>
              <a:t> for </a:t>
            </a:r>
            <a:r>
              <a:rPr lang="de-DE" sz="1200" dirty="0" err="1">
                <a:solidFill>
                  <a:schemeClr val="tx1"/>
                </a:solidFill>
              </a:rPr>
              <a:t>visualization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860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C2286-BA40-A25B-2371-2CC6B902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02F01-B940-2993-CBF4-2B8D6AF3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Targeted, behavior-based rewards can help Instacart address weakening engagement by focusing on customers who are ordering later than expected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34A2D8C-9BE3-181C-9828-2C6A3327479A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095869C4-29E0-62AE-8918-91B7F935BF0E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/>
              <a:t>Recommendation</a:t>
            </a:r>
            <a:r>
              <a:rPr lang="de-DE" sz="1200" b="1" dirty="0"/>
              <a:t> &amp; </a:t>
            </a:r>
            <a:r>
              <a:rPr lang="de-DE" sz="1200" b="1" dirty="0" err="1"/>
              <a:t>next</a:t>
            </a:r>
            <a:r>
              <a:rPr lang="de-DE" sz="1200" b="1" dirty="0"/>
              <a:t> </a:t>
            </a:r>
            <a:r>
              <a:rPr lang="de-DE" sz="1200" b="1" dirty="0" err="1"/>
              <a:t>steps</a:t>
            </a:r>
            <a:endParaRPr lang="de-DE" sz="1200" b="1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62FADEA7-6396-FB05-D0B7-32B074B2B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559" y="1120453"/>
            <a:ext cx="3708000" cy="353699"/>
          </a:xfr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>
            <a:normAutofit/>
          </a:bodyPr>
          <a:lstStyle/>
          <a:p>
            <a:r>
              <a:rPr lang="de-DE" sz="1600" dirty="0"/>
              <a:t>1.    Recommended Action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2003FCE-58B7-DCD0-7178-B58F4B591D92}"/>
              </a:ext>
            </a:extLst>
          </p:cNvPr>
          <p:cNvSpPr txBox="1">
            <a:spLocks/>
          </p:cNvSpPr>
          <p:nvPr/>
        </p:nvSpPr>
        <p:spPr>
          <a:xfrm>
            <a:off x="4242000" y="1120454"/>
            <a:ext cx="4174344" cy="353699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2.    </a:t>
            </a:r>
            <a:r>
              <a:rPr lang="de-DE" sz="1600" dirty="0" err="1"/>
              <a:t>Proposed</a:t>
            </a:r>
            <a:r>
              <a:rPr lang="de-DE" sz="1600" dirty="0"/>
              <a:t> Experiment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DEAD136-4EA9-3F32-8D27-5F22B819BD54}"/>
              </a:ext>
            </a:extLst>
          </p:cNvPr>
          <p:cNvSpPr txBox="1">
            <a:spLocks/>
          </p:cNvSpPr>
          <p:nvPr/>
        </p:nvSpPr>
        <p:spPr>
          <a:xfrm>
            <a:off x="8629601" y="1120453"/>
            <a:ext cx="3231839" cy="353699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3.   Next </a:t>
            </a:r>
            <a:r>
              <a:rPr lang="de-DE" sz="1600" dirty="0" err="1"/>
              <a:t>Steps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lussdiagramm: Verbinder 13">
            <a:extLst>
              <a:ext uri="{FF2B5EF4-FFF2-40B4-BE49-F238E27FC236}">
                <a16:creationId xmlns:a16="http://schemas.microsoft.com/office/drawing/2014/main" id="{91AC6F34-D5BD-BAFE-E377-710880AF2A48}"/>
              </a:ext>
            </a:extLst>
          </p:cNvPr>
          <p:cNvSpPr/>
          <p:nvPr/>
        </p:nvSpPr>
        <p:spPr>
          <a:xfrm>
            <a:off x="244703" y="1099302"/>
            <a:ext cx="396000" cy="39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1</a:t>
            </a:r>
          </a:p>
        </p:txBody>
      </p:sp>
      <p:sp>
        <p:nvSpPr>
          <p:cNvPr id="16" name="Flussdiagramm: Verbinder 15">
            <a:extLst>
              <a:ext uri="{FF2B5EF4-FFF2-40B4-BE49-F238E27FC236}">
                <a16:creationId xmlns:a16="http://schemas.microsoft.com/office/drawing/2014/main" id="{6AF40AA3-27FA-8DC9-A9EE-33DDC81E7B27}"/>
              </a:ext>
            </a:extLst>
          </p:cNvPr>
          <p:cNvSpPr/>
          <p:nvPr/>
        </p:nvSpPr>
        <p:spPr>
          <a:xfrm>
            <a:off x="4153999" y="1099302"/>
            <a:ext cx="396000" cy="39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2</a:t>
            </a:r>
          </a:p>
        </p:txBody>
      </p:sp>
      <p:sp>
        <p:nvSpPr>
          <p:cNvPr id="18" name="Flussdiagramm: Verbinder 17">
            <a:extLst>
              <a:ext uri="{FF2B5EF4-FFF2-40B4-BE49-F238E27FC236}">
                <a16:creationId xmlns:a16="http://schemas.microsoft.com/office/drawing/2014/main" id="{F492AD43-9904-17B3-2E2E-D7C9827D68F7}"/>
              </a:ext>
            </a:extLst>
          </p:cNvPr>
          <p:cNvSpPr/>
          <p:nvPr/>
        </p:nvSpPr>
        <p:spPr>
          <a:xfrm>
            <a:off x="8558471" y="1099302"/>
            <a:ext cx="345148" cy="396000"/>
          </a:xfrm>
          <a:prstGeom prst="flowChartConnector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3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0E0F1F0-930F-EDF8-622F-D6449B6529A0}"/>
              </a:ext>
            </a:extLst>
          </p:cNvPr>
          <p:cNvSpPr txBox="1"/>
          <p:nvPr/>
        </p:nvSpPr>
        <p:spPr>
          <a:xfrm>
            <a:off x="328410" y="1526146"/>
            <a:ext cx="370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Launch a personalized reorder reminder with one-click basket rebuilding</a:t>
            </a:r>
            <a:endParaRPr lang="de-DE" sz="140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B551202-833F-2152-8FE7-5B29AD23B331}"/>
              </a:ext>
            </a:extLst>
          </p:cNvPr>
          <p:cNvSpPr txBox="1"/>
          <p:nvPr/>
        </p:nvSpPr>
        <p:spPr>
          <a:xfrm>
            <a:off x="4240925" y="1526146"/>
            <a:ext cx="4174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Run a controlled experiment to measure the impact of targeted, behavior-based rewards</a:t>
            </a:r>
            <a:endParaRPr lang="de-DE" sz="14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93B159F-BD4C-8173-A723-D8CF279BDAFE}"/>
              </a:ext>
            </a:extLst>
          </p:cNvPr>
          <p:cNvSpPr txBox="1"/>
          <p:nvPr/>
        </p:nvSpPr>
        <p:spPr>
          <a:xfrm>
            <a:off x="8629601" y="1495302"/>
            <a:ext cx="3231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Move from analysis to implementation and measure results</a:t>
            </a:r>
            <a:endParaRPr lang="de-DE" sz="140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35DC7C2-AF5D-A377-C988-8C25E6C585D5}"/>
              </a:ext>
            </a:extLst>
          </p:cNvPr>
          <p:cNvSpPr/>
          <p:nvPr/>
        </p:nvSpPr>
        <p:spPr>
          <a:xfrm>
            <a:off x="575900" y="2248146"/>
            <a:ext cx="3460509" cy="832212"/>
          </a:xfrm>
          <a:prstGeom prst="rect">
            <a:avLst/>
          </a:prstGeom>
          <a:solidFill>
            <a:srgbClr val="4E9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0" rtlCol="0" anchor="ctr"/>
          <a:lstStyle/>
          <a:p>
            <a:pPr lvl="1"/>
            <a:r>
              <a:rPr lang="en-US" sz="1400" dirty="0"/>
              <a:t>Target customers showing weakening engagement based on their deviation from expected ordering behavior</a:t>
            </a:r>
            <a:endParaRPr lang="de-DE" sz="1400" dirty="0"/>
          </a:p>
        </p:txBody>
      </p:sp>
      <p:sp>
        <p:nvSpPr>
          <p:cNvPr id="36" name="Flussdiagramm: Verbinder 35">
            <a:extLst>
              <a:ext uri="{FF2B5EF4-FFF2-40B4-BE49-F238E27FC236}">
                <a16:creationId xmlns:a16="http://schemas.microsoft.com/office/drawing/2014/main" id="{50FD9FB9-6C98-74B3-FFFC-FA8C0193D769}"/>
              </a:ext>
            </a:extLst>
          </p:cNvPr>
          <p:cNvSpPr>
            <a:spLocks noChangeAspect="1"/>
          </p:cNvSpPr>
          <p:nvPr/>
        </p:nvSpPr>
        <p:spPr>
          <a:xfrm>
            <a:off x="180086" y="2249272"/>
            <a:ext cx="831088" cy="831086"/>
          </a:xfrm>
          <a:prstGeom prst="flowChartConnector">
            <a:avLst/>
          </a:prstGeom>
          <a:solidFill>
            <a:schemeClr val="bg1"/>
          </a:solidFill>
          <a:ln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0" name="Grafik 39" descr="Volltreffer Silhouette">
            <a:extLst>
              <a:ext uri="{FF2B5EF4-FFF2-40B4-BE49-F238E27FC236}">
                <a16:creationId xmlns:a16="http://schemas.microsoft.com/office/drawing/2014/main" id="{01CF31BB-1589-F371-937A-90D67A4EF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203" y="2279781"/>
            <a:ext cx="762853" cy="762853"/>
          </a:xfrm>
          <a:prstGeom prst="rect">
            <a:avLst/>
          </a:prstGeom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D13D9A3F-754F-C615-B2F1-B8D8B403F9CE}"/>
              </a:ext>
            </a:extLst>
          </p:cNvPr>
          <p:cNvSpPr/>
          <p:nvPr/>
        </p:nvSpPr>
        <p:spPr>
          <a:xfrm>
            <a:off x="575899" y="3266542"/>
            <a:ext cx="3460509" cy="83221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0" rtlCol="0" anchor="ctr"/>
          <a:lstStyle/>
          <a:p>
            <a:pPr lvl="1"/>
            <a:r>
              <a:rPr lang="de-DE" sz="1400" dirty="0"/>
              <a:t>Use </a:t>
            </a:r>
            <a:r>
              <a:rPr lang="de-DE" sz="1400" dirty="0" err="1"/>
              <a:t>targeted</a:t>
            </a:r>
            <a:r>
              <a:rPr lang="de-DE" sz="1400" dirty="0"/>
              <a:t>, time-limited </a:t>
            </a:r>
            <a:r>
              <a:rPr lang="de-DE" sz="1400" dirty="0" err="1"/>
              <a:t>rewards</a:t>
            </a:r>
            <a:r>
              <a:rPr lang="de-DE" sz="1400" dirty="0"/>
              <a:t> to </a:t>
            </a:r>
            <a:r>
              <a:rPr lang="de-DE" sz="1400" dirty="0" err="1"/>
              <a:t>encourage</a:t>
            </a:r>
            <a:r>
              <a:rPr lang="de-DE" sz="1400" dirty="0"/>
              <a:t> a </a:t>
            </a:r>
            <a:r>
              <a:rPr lang="de-DE" sz="1400" dirty="0" err="1"/>
              <a:t>repeat</a:t>
            </a:r>
            <a:r>
              <a:rPr lang="de-DE" sz="1400" dirty="0"/>
              <a:t> </a:t>
            </a:r>
            <a:r>
              <a:rPr lang="de-DE" sz="1400" dirty="0" err="1"/>
              <a:t>purchase</a:t>
            </a:r>
            <a:endParaRPr lang="de-DE" sz="1400" dirty="0"/>
          </a:p>
        </p:txBody>
      </p:sp>
      <p:sp>
        <p:nvSpPr>
          <p:cNvPr id="34" name="Flussdiagramm: Verbinder 33">
            <a:extLst>
              <a:ext uri="{FF2B5EF4-FFF2-40B4-BE49-F238E27FC236}">
                <a16:creationId xmlns:a16="http://schemas.microsoft.com/office/drawing/2014/main" id="{41664927-2E21-48B0-ACE0-CCB78878E313}"/>
              </a:ext>
            </a:extLst>
          </p:cNvPr>
          <p:cNvSpPr>
            <a:spLocks noChangeAspect="1"/>
          </p:cNvSpPr>
          <p:nvPr/>
        </p:nvSpPr>
        <p:spPr>
          <a:xfrm>
            <a:off x="179572" y="3266542"/>
            <a:ext cx="831602" cy="8316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8CE7B4E3-1982-F0F3-9603-EA3884AA38A6}"/>
              </a:ext>
            </a:extLst>
          </p:cNvPr>
          <p:cNvSpPr/>
          <p:nvPr/>
        </p:nvSpPr>
        <p:spPr>
          <a:xfrm>
            <a:off x="521633" y="4284326"/>
            <a:ext cx="3514774" cy="83221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0" rtlCol="0" anchor="ctr"/>
          <a:lstStyle/>
          <a:p>
            <a:pPr lvl="1"/>
            <a:r>
              <a:rPr lang="en-US" sz="1400" dirty="0"/>
              <a:t>Tailor rewards by engagement: small rewards for Weakening, win-back offers for High Concern, and milestone rewards for Stable customers</a:t>
            </a:r>
            <a:endParaRPr lang="de-DE" sz="1400" dirty="0"/>
          </a:p>
        </p:txBody>
      </p:sp>
      <p:sp>
        <p:nvSpPr>
          <p:cNvPr id="32" name="Flussdiagramm: Verbinder 31">
            <a:extLst>
              <a:ext uri="{FF2B5EF4-FFF2-40B4-BE49-F238E27FC236}">
                <a16:creationId xmlns:a16="http://schemas.microsoft.com/office/drawing/2014/main" id="{1745C00A-A2BE-BAC9-AE72-EC09D79B7D54}"/>
              </a:ext>
            </a:extLst>
          </p:cNvPr>
          <p:cNvSpPr>
            <a:spLocks noChangeAspect="1"/>
          </p:cNvSpPr>
          <p:nvPr/>
        </p:nvSpPr>
        <p:spPr>
          <a:xfrm>
            <a:off x="179572" y="4283714"/>
            <a:ext cx="831602" cy="8316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8" name="Grafik 37" descr="Benutzer Silhouette">
            <a:extLst>
              <a:ext uri="{FF2B5EF4-FFF2-40B4-BE49-F238E27FC236}">
                <a16:creationId xmlns:a16="http://schemas.microsoft.com/office/drawing/2014/main" id="{6C24C25C-1FE7-C9DD-0151-E6D87066F2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174" y="4339630"/>
            <a:ext cx="720000" cy="720000"/>
          </a:xfrm>
          <a:prstGeom prst="rect">
            <a:avLst/>
          </a:prstGeom>
        </p:spPr>
      </p:pic>
      <p:sp>
        <p:nvSpPr>
          <p:cNvPr id="51" name="Sprechblase: rechteckig 50">
            <a:extLst>
              <a:ext uri="{FF2B5EF4-FFF2-40B4-BE49-F238E27FC236}">
                <a16:creationId xmlns:a16="http://schemas.microsoft.com/office/drawing/2014/main" id="{E070B3AB-77F4-E3B7-951B-E469532E252B}"/>
              </a:ext>
            </a:extLst>
          </p:cNvPr>
          <p:cNvSpPr/>
          <p:nvPr/>
        </p:nvSpPr>
        <p:spPr>
          <a:xfrm>
            <a:off x="328411" y="5546157"/>
            <a:ext cx="3707998" cy="584062"/>
          </a:xfrm>
          <a:prstGeom prst="wedgeRectCallout">
            <a:avLst>
              <a:gd name="adj1" fmla="val -6502"/>
              <a:gd name="adj2" fmla="val -107140"/>
            </a:avLst>
          </a:prstGeom>
          <a:solidFill>
            <a:srgbClr val="DC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 b="1" dirty="0">
                <a:solidFill>
                  <a:schemeClr val="tx1"/>
                </a:solidFill>
              </a:rPr>
              <a:t>29,712 customers</a:t>
            </a:r>
          </a:p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</a:rPr>
              <a:t>identified as Weakening or High Concern</a:t>
            </a: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20701F42-2307-D760-3FEA-F140C4540BC7}"/>
              </a:ext>
            </a:extLst>
          </p:cNvPr>
          <p:cNvSpPr/>
          <p:nvPr/>
        </p:nvSpPr>
        <p:spPr>
          <a:xfrm>
            <a:off x="4351999" y="2234580"/>
            <a:ext cx="1836000" cy="986761"/>
          </a:xfrm>
          <a:prstGeom prst="rect">
            <a:avLst/>
          </a:prstGeom>
          <a:solidFill>
            <a:srgbClr val="D9F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0" bIns="0" rtlCol="0" anchor="t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de-DE" sz="1400" b="1" dirty="0">
                <a:solidFill>
                  <a:schemeClr val="tx1"/>
                </a:solidFill>
              </a:rPr>
              <a:t>Treatment Group</a:t>
            </a:r>
            <a:br>
              <a:rPr lang="de-DE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Behavior-based rewards(by engagement status)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6F8070BE-4F4B-501A-C316-A6393B1AFC4A}"/>
              </a:ext>
            </a:extLst>
          </p:cNvPr>
          <p:cNvSpPr/>
          <p:nvPr/>
        </p:nvSpPr>
        <p:spPr>
          <a:xfrm>
            <a:off x="6580344" y="2234580"/>
            <a:ext cx="1836000" cy="9867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/>
          <a:lstStyle/>
          <a:p>
            <a:pPr marL="72000" algn="ctr">
              <a:spcBef>
                <a:spcPts val="600"/>
              </a:spcBef>
            </a:pPr>
            <a:r>
              <a:rPr lang="de-DE" sz="1400" b="1" dirty="0">
                <a:solidFill>
                  <a:schemeClr val="tx1"/>
                </a:solidFill>
              </a:rPr>
              <a:t>Control Group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sz="1200" dirty="0" err="1">
                <a:solidFill>
                  <a:schemeClr val="tx1"/>
                </a:solidFill>
              </a:rPr>
              <a:t>No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intervention</a:t>
            </a:r>
            <a:r>
              <a:rPr lang="de-DE" sz="1200" dirty="0">
                <a:solidFill>
                  <a:schemeClr val="tx1"/>
                </a:solidFill>
              </a:rPr>
              <a:t> (</a:t>
            </a:r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experience</a:t>
            </a:r>
            <a:r>
              <a:rPr lang="de-DE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8" name="Flussdiagramm: Verbinder 57">
            <a:extLst>
              <a:ext uri="{FF2B5EF4-FFF2-40B4-BE49-F238E27FC236}">
                <a16:creationId xmlns:a16="http://schemas.microsoft.com/office/drawing/2014/main" id="{C36EFBDB-548F-4841-A148-4ADC22AF279F}"/>
              </a:ext>
            </a:extLst>
          </p:cNvPr>
          <p:cNvSpPr/>
          <p:nvPr/>
        </p:nvSpPr>
        <p:spPr>
          <a:xfrm>
            <a:off x="8705619" y="2279780"/>
            <a:ext cx="396000" cy="396000"/>
          </a:xfrm>
          <a:prstGeom prst="flowChartConnector">
            <a:avLst/>
          </a:prstGeom>
          <a:solidFill>
            <a:srgbClr val="4E9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1</a:t>
            </a:r>
          </a:p>
        </p:txBody>
      </p:sp>
      <p:sp>
        <p:nvSpPr>
          <p:cNvPr id="60" name="Flussdiagramm: Verbinder 59">
            <a:extLst>
              <a:ext uri="{FF2B5EF4-FFF2-40B4-BE49-F238E27FC236}">
                <a16:creationId xmlns:a16="http://schemas.microsoft.com/office/drawing/2014/main" id="{99ECA37C-885F-5B26-CC51-32D64E4C5FA3}"/>
              </a:ext>
            </a:extLst>
          </p:cNvPr>
          <p:cNvSpPr/>
          <p:nvPr/>
        </p:nvSpPr>
        <p:spPr>
          <a:xfrm>
            <a:off x="8705619" y="3753171"/>
            <a:ext cx="396000" cy="396000"/>
          </a:xfrm>
          <a:prstGeom prst="flowChartConnector">
            <a:avLst/>
          </a:prstGeom>
          <a:solidFill>
            <a:srgbClr val="4E9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2</a:t>
            </a:r>
          </a:p>
        </p:txBody>
      </p:sp>
      <p:sp>
        <p:nvSpPr>
          <p:cNvPr id="62" name="Flussdiagramm: Verbinder 61">
            <a:extLst>
              <a:ext uri="{FF2B5EF4-FFF2-40B4-BE49-F238E27FC236}">
                <a16:creationId xmlns:a16="http://schemas.microsoft.com/office/drawing/2014/main" id="{07513EBC-FDC5-6D20-C794-8004C1958CAE}"/>
              </a:ext>
            </a:extLst>
          </p:cNvPr>
          <p:cNvSpPr/>
          <p:nvPr/>
        </p:nvSpPr>
        <p:spPr>
          <a:xfrm>
            <a:off x="8705619" y="5245027"/>
            <a:ext cx="396000" cy="396000"/>
          </a:xfrm>
          <a:prstGeom prst="flowChartConnector">
            <a:avLst/>
          </a:prstGeom>
          <a:solidFill>
            <a:srgbClr val="4E9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3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EBD9645-7D68-610A-2A45-293B2549CB53}"/>
              </a:ext>
            </a:extLst>
          </p:cNvPr>
          <p:cNvSpPr txBox="1"/>
          <p:nvPr/>
        </p:nvSpPr>
        <p:spPr>
          <a:xfrm>
            <a:off x="9150437" y="2310862"/>
            <a:ext cx="27110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Identify</a:t>
            </a:r>
          </a:p>
          <a:p>
            <a:r>
              <a:rPr lang="en-US" sz="1200" dirty="0"/>
              <a:t>Use the final customer dataset to select eligible Weakening and High Concern customers</a:t>
            </a:r>
            <a:endParaRPr lang="de-DE" sz="12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98A45110-EFCE-C81C-4312-2E1CCBE6A66C}"/>
              </a:ext>
            </a:extLst>
          </p:cNvPr>
          <p:cNvSpPr txBox="1"/>
          <p:nvPr/>
        </p:nvSpPr>
        <p:spPr>
          <a:xfrm>
            <a:off x="9150437" y="3812915"/>
            <a:ext cx="271100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Test</a:t>
            </a:r>
          </a:p>
          <a:p>
            <a:r>
              <a:rPr lang="en-US" sz="1200" dirty="0"/>
              <a:t>Run the targeted reward experiment against a control group</a:t>
            </a:r>
            <a:endParaRPr lang="de-DE" sz="1200" dirty="0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A6C06BB2-905C-AFEA-C492-75B1A7883BA2}"/>
              </a:ext>
            </a:extLst>
          </p:cNvPr>
          <p:cNvSpPr txBox="1"/>
          <p:nvPr/>
        </p:nvSpPr>
        <p:spPr>
          <a:xfrm>
            <a:off x="9150438" y="5314968"/>
            <a:ext cx="27110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Evaluate &amp; Scale</a:t>
            </a:r>
          </a:p>
          <a:p>
            <a:r>
              <a:rPr lang="en-US" sz="1200" dirty="0"/>
              <a:t>Measure the impact on key outcomes. If successful, refine and scale the initiative</a:t>
            </a:r>
            <a:endParaRPr lang="de-DE" sz="1200" dirty="0"/>
          </a:p>
        </p:txBody>
      </p: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18304960-DF71-46FF-B0C4-920CAF06552D}"/>
              </a:ext>
            </a:extLst>
          </p:cNvPr>
          <p:cNvCxnSpPr>
            <a:cxnSpLocks/>
          </p:cNvCxnSpPr>
          <p:nvPr/>
        </p:nvCxnSpPr>
        <p:spPr>
          <a:xfrm>
            <a:off x="8897160" y="2825342"/>
            <a:ext cx="6459" cy="748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ED7B1AF4-21D1-652D-8E98-977959CD3327}"/>
              </a:ext>
            </a:extLst>
          </p:cNvPr>
          <p:cNvCxnSpPr>
            <a:cxnSpLocks/>
          </p:cNvCxnSpPr>
          <p:nvPr/>
        </p:nvCxnSpPr>
        <p:spPr>
          <a:xfrm>
            <a:off x="8903619" y="4322826"/>
            <a:ext cx="6459" cy="748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lussdiagramm: Verbinder 72">
            <a:extLst>
              <a:ext uri="{FF2B5EF4-FFF2-40B4-BE49-F238E27FC236}">
                <a16:creationId xmlns:a16="http://schemas.microsoft.com/office/drawing/2014/main" id="{13DC1C69-3E75-D18E-1512-3B37D0F57EED}"/>
              </a:ext>
            </a:extLst>
          </p:cNvPr>
          <p:cNvSpPr/>
          <p:nvPr/>
        </p:nvSpPr>
        <p:spPr>
          <a:xfrm>
            <a:off x="6212369" y="2590422"/>
            <a:ext cx="315589" cy="302654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6E1BB5B2-BDB2-6170-C74C-4741D6CB815F}"/>
              </a:ext>
            </a:extLst>
          </p:cNvPr>
          <p:cNvSpPr txBox="1"/>
          <p:nvPr/>
        </p:nvSpPr>
        <p:spPr>
          <a:xfrm>
            <a:off x="6187997" y="2572421"/>
            <a:ext cx="364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 err="1">
                <a:solidFill>
                  <a:schemeClr val="bg1"/>
                </a:solidFill>
              </a:rPr>
              <a:t>vs</a:t>
            </a:r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75" name="Flussdiagramm: Verbinder 74">
            <a:extLst>
              <a:ext uri="{FF2B5EF4-FFF2-40B4-BE49-F238E27FC236}">
                <a16:creationId xmlns:a16="http://schemas.microsoft.com/office/drawing/2014/main" id="{C9DAA83E-BAF5-0AF7-4FCD-6D553BF71781}"/>
              </a:ext>
            </a:extLst>
          </p:cNvPr>
          <p:cNvSpPr>
            <a:spLocks noChangeAspect="1"/>
          </p:cNvSpPr>
          <p:nvPr/>
        </p:nvSpPr>
        <p:spPr>
          <a:xfrm>
            <a:off x="4207149" y="2169188"/>
            <a:ext cx="360001" cy="36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7" name="Grafik 76" descr="Benutzer Silhouette">
            <a:extLst>
              <a:ext uri="{FF2B5EF4-FFF2-40B4-BE49-F238E27FC236}">
                <a16:creationId xmlns:a16="http://schemas.microsoft.com/office/drawing/2014/main" id="{C9448824-A85B-E957-714F-4AEA031B49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5788" y="2187188"/>
            <a:ext cx="324000" cy="324000"/>
          </a:xfrm>
          <a:prstGeom prst="rect">
            <a:avLst/>
          </a:prstGeom>
        </p:spPr>
      </p:pic>
      <p:sp>
        <p:nvSpPr>
          <p:cNvPr id="79" name="Flussdiagramm: Verbinder 78">
            <a:extLst>
              <a:ext uri="{FF2B5EF4-FFF2-40B4-BE49-F238E27FC236}">
                <a16:creationId xmlns:a16="http://schemas.microsoft.com/office/drawing/2014/main" id="{C6669E20-5B39-8D0B-DB2C-50B0359B6CD4}"/>
              </a:ext>
            </a:extLst>
          </p:cNvPr>
          <p:cNvSpPr>
            <a:spLocks noChangeAspect="1"/>
          </p:cNvSpPr>
          <p:nvPr/>
        </p:nvSpPr>
        <p:spPr>
          <a:xfrm>
            <a:off x="8158571" y="2169188"/>
            <a:ext cx="360001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1" name="Grafik 80" descr="Benutzer Silhouette">
            <a:extLst>
              <a:ext uri="{FF2B5EF4-FFF2-40B4-BE49-F238E27FC236}">
                <a16:creationId xmlns:a16="http://schemas.microsoft.com/office/drawing/2014/main" id="{89F8CC53-230F-9CA9-D8BA-EA3E4E6947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7210" y="2187188"/>
            <a:ext cx="324000" cy="324000"/>
          </a:xfrm>
          <a:prstGeom prst="rect">
            <a:avLst/>
          </a:prstGeom>
        </p:spPr>
      </p:pic>
      <p:sp>
        <p:nvSpPr>
          <p:cNvPr id="83" name="Textplatzhalter 2">
            <a:extLst>
              <a:ext uri="{FF2B5EF4-FFF2-40B4-BE49-F238E27FC236}">
                <a16:creationId xmlns:a16="http://schemas.microsoft.com/office/drawing/2014/main" id="{D7B9094D-14C9-1343-E992-197CC6CED0EB}"/>
              </a:ext>
            </a:extLst>
          </p:cNvPr>
          <p:cNvSpPr txBox="1">
            <a:spLocks/>
          </p:cNvSpPr>
          <p:nvPr/>
        </p:nvSpPr>
        <p:spPr>
          <a:xfrm>
            <a:off x="4351999" y="3439634"/>
            <a:ext cx="4064345" cy="475543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key outcomes between treatment and control groups</a:t>
            </a:r>
            <a:endParaRPr lang="de-D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5" name="Verbinder: gewinkelt 84">
            <a:extLst>
              <a:ext uri="{FF2B5EF4-FFF2-40B4-BE49-F238E27FC236}">
                <a16:creationId xmlns:a16="http://schemas.microsoft.com/office/drawing/2014/main" id="{F9E11552-CC4A-653E-11D3-493AC3E6F7C8}"/>
              </a:ext>
            </a:extLst>
          </p:cNvPr>
          <p:cNvCxnSpPr>
            <a:cxnSpLocks/>
            <a:stCxn id="52" idx="2"/>
            <a:endCxn id="83" idx="0"/>
          </p:cNvCxnSpPr>
          <p:nvPr/>
        </p:nvCxnSpPr>
        <p:spPr>
          <a:xfrm rot="16200000" flipH="1">
            <a:off x="5717939" y="2773400"/>
            <a:ext cx="218293" cy="11141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Verbinder: gewinkelt 86">
            <a:extLst>
              <a:ext uri="{FF2B5EF4-FFF2-40B4-BE49-F238E27FC236}">
                <a16:creationId xmlns:a16="http://schemas.microsoft.com/office/drawing/2014/main" id="{0DF9F1CB-F17B-8006-0C52-76B2D99A4733}"/>
              </a:ext>
            </a:extLst>
          </p:cNvPr>
          <p:cNvCxnSpPr>
            <a:cxnSpLocks/>
          </p:cNvCxnSpPr>
          <p:nvPr/>
        </p:nvCxnSpPr>
        <p:spPr>
          <a:xfrm rot="5400000">
            <a:off x="6877629" y="2708548"/>
            <a:ext cx="120801" cy="112063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platzhalter 2">
            <a:extLst>
              <a:ext uri="{FF2B5EF4-FFF2-40B4-BE49-F238E27FC236}">
                <a16:creationId xmlns:a16="http://schemas.microsoft.com/office/drawing/2014/main" id="{351C8774-E26E-43C6-3ABE-10ED354CE918}"/>
              </a:ext>
            </a:extLst>
          </p:cNvPr>
          <p:cNvSpPr txBox="1">
            <a:spLocks/>
          </p:cNvSpPr>
          <p:nvPr/>
        </p:nvSpPr>
        <p:spPr>
          <a:xfrm>
            <a:off x="4242000" y="4126297"/>
            <a:ext cx="4174344" cy="353699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 </a:t>
            </a:r>
            <a:r>
              <a:rPr lang="de-DE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Criteria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1" name="Flussdiagramm: Prozess 90">
            <a:extLst>
              <a:ext uri="{FF2B5EF4-FFF2-40B4-BE49-F238E27FC236}">
                <a16:creationId xmlns:a16="http://schemas.microsoft.com/office/drawing/2014/main" id="{346CBD0A-883E-90A6-D151-61052E61FB7D}"/>
              </a:ext>
            </a:extLst>
          </p:cNvPr>
          <p:cNvSpPr/>
          <p:nvPr/>
        </p:nvSpPr>
        <p:spPr>
          <a:xfrm>
            <a:off x="7254556" y="5384952"/>
            <a:ext cx="1178877" cy="53665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Stable or higher average basket size </a:t>
            </a:r>
            <a:r>
              <a:rPr lang="en-US" sz="1200" dirty="0">
                <a:solidFill>
                  <a:schemeClr val="tx1"/>
                </a:solidFill>
              </a:rPr>
              <a:t>vs. control group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97" name="Flussdiagramm: Prozess 96">
            <a:extLst>
              <a:ext uri="{FF2B5EF4-FFF2-40B4-BE49-F238E27FC236}">
                <a16:creationId xmlns:a16="http://schemas.microsoft.com/office/drawing/2014/main" id="{BC4FA677-90F4-E680-F45B-8DA4115DE458}"/>
              </a:ext>
            </a:extLst>
          </p:cNvPr>
          <p:cNvSpPr/>
          <p:nvPr/>
        </p:nvSpPr>
        <p:spPr>
          <a:xfrm>
            <a:off x="5871245" y="5361246"/>
            <a:ext cx="997834" cy="584062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Shorter time to next order </a:t>
            </a:r>
            <a:r>
              <a:rPr lang="en-US" sz="1200" dirty="0">
                <a:solidFill>
                  <a:schemeClr val="tx1"/>
                </a:solidFill>
              </a:rPr>
              <a:t>vs. control group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99" name="Flussdiagramm: Verbinder 98">
            <a:extLst>
              <a:ext uri="{FF2B5EF4-FFF2-40B4-BE49-F238E27FC236}">
                <a16:creationId xmlns:a16="http://schemas.microsoft.com/office/drawing/2014/main" id="{603582C5-55DB-0E46-AFC9-3F8ABB3AEE2C}"/>
              </a:ext>
            </a:extLst>
          </p:cNvPr>
          <p:cNvSpPr>
            <a:spLocks noChangeAspect="1"/>
          </p:cNvSpPr>
          <p:nvPr/>
        </p:nvSpPr>
        <p:spPr>
          <a:xfrm>
            <a:off x="4672133" y="4624988"/>
            <a:ext cx="540001" cy="54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Flussdiagramm: Verbinder 106">
            <a:extLst>
              <a:ext uri="{FF2B5EF4-FFF2-40B4-BE49-F238E27FC236}">
                <a16:creationId xmlns:a16="http://schemas.microsoft.com/office/drawing/2014/main" id="{D9983B14-78CE-151E-2306-77BD3C835088}"/>
              </a:ext>
            </a:extLst>
          </p:cNvPr>
          <p:cNvSpPr>
            <a:spLocks noChangeAspect="1"/>
          </p:cNvSpPr>
          <p:nvPr/>
        </p:nvSpPr>
        <p:spPr>
          <a:xfrm>
            <a:off x="6110186" y="4623035"/>
            <a:ext cx="540001" cy="54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3" name="Grafik 112" descr="Marke Silhouette">
            <a:extLst>
              <a:ext uri="{FF2B5EF4-FFF2-40B4-BE49-F238E27FC236}">
                <a16:creationId xmlns:a16="http://schemas.microsoft.com/office/drawing/2014/main" id="{A765279F-0EED-C642-D3BD-0029F20A9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551" y="3329264"/>
            <a:ext cx="756000" cy="756000"/>
          </a:xfrm>
          <a:prstGeom prst="rect">
            <a:avLst/>
          </a:prstGeom>
        </p:spPr>
      </p:pic>
      <p:sp>
        <p:nvSpPr>
          <p:cNvPr id="116" name="Flussdiagramm: Verbinder 115">
            <a:extLst>
              <a:ext uri="{FF2B5EF4-FFF2-40B4-BE49-F238E27FC236}">
                <a16:creationId xmlns:a16="http://schemas.microsoft.com/office/drawing/2014/main" id="{7D65D661-EFB9-0F47-F4FD-EA18C9F8143E}"/>
              </a:ext>
            </a:extLst>
          </p:cNvPr>
          <p:cNvSpPr>
            <a:spLocks noChangeAspect="1"/>
          </p:cNvSpPr>
          <p:nvPr/>
        </p:nvSpPr>
        <p:spPr>
          <a:xfrm>
            <a:off x="7573995" y="4623035"/>
            <a:ext cx="540001" cy="540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1" name="Grafik 110" descr="Warenkorb Silhouette">
            <a:extLst>
              <a:ext uri="{FF2B5EF4-FFF2-40B4-BE49-F238E27FC236}">
                <a16:creationId xmlns:a16="http://schemas.microsoft.com/office/drawing/2014/main" id="{F56C732C-697B-956F-B54A-9CDA677DE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5982" y="4687011"/>
            <a:ext cx="396000" cy="396000"/>
          </a:xfrm>
          <a:prstGeom prst="rect">
            <a:avLst/>
          </a:prstGeom>
        </p:spPr>
      </p:pic>
      <p:pic>
        <p:nvPicPr>
          <p:cNvPr id="120" name="Grafik 119" descr="Uhr Silhouette">
            <a:extLst>
              <a:ext uri="{FF2B5EF4-FFF2-40B4-BE49-F238E27FC236}">
                <a16:creationId xmlns:a16="http://schemas.microsoft.com/office/drawing/2014/main" id="{802A60C3-F22F-2A57-78E7-B719B2C60E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3714" y="4659035"/>
            <a:ext cx="468000" cy="468000"/>
          </a:xfrm>
          <a:prstGeom prst="rect">
            <a:avLst/>
          </a:prstGeom>
        </p:spPr>
      </p:pic>
      <p:pic>
        <p:nvPicPr>
          <p:cNvPr id="122" name="Grafik 121" descr="Balkendiagramm mit Aufwärtstrend Silhouette">
            <a:extLst>
              <a:ext uri="{FF2B5EF4-FFF2-40B4-BE49-F238E27FC236}">
                <a16:creationId xmlns:a16="http://schemas.microsoft.com/office/drawing/2014/main" id="{293AC34F-4DB2-8A7E-25C5-2FD32A9ED9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1323" y="4669011"/>
            <a:ext cx="432000" cy="432000"/>
          </a:xfrm>
          <a:prstGeom prst="rect">
            <a:avLst/>
          </a:prstGeom>
        </p:spPr>
      </p:pic>
      <p:sp>
        <p:nvSpPr>
          <p:cNvPr id="124" name="Flussdiagramm: Prozess 123">
            <a:extLst>
              <a:ext uri="{FF2B5EF4-FFF2-40B4-BE49-F238E27FC236}">
                <a16:creationId xmlns:a16="http://schemas.microsoft.com/office/drawing/2014/main" id="{F8C48B26-BA33-9313-DB47-172372A41B95}"/>
              </a:ext>
            </a:extLst>
          </p:cNvPr>
          <p:cNvSpPr/>
          <p:nvPr/>
        </p:nvSpPr>
        <p:spPr>
          <a:xfrm>
            <a:off x="4465175" y="5309980"/>
            <a:ext cx="997834" cy="584062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Higher repeat-order rate </a:t>
            </a:r>
            <a:r>
              <a:rPr lang="en-US" sz="1200" dirty="0">
                <a:solidFill>
                  <a:schemeClr val="tx1"/>
                </a:solidFill>
              </a:rPr>
              <a:t>vs. control group</a:t>
            </a: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02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FDFEC-A531-8180-E1E8-3F0F8E01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6BF610-DD85-C920-69B5-087F11A2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de-DE" sz="2000" b="1" dirty="0">
                <a:ea typeface="Calibri" panose="020F0502020204030204" pitchFamily="34" charset="0"/>
                <a:cs typeface="Calibri" panose="020F0502020204030204" pitchFamily="34" charset="0"/>
              </a:rPr>
              <a:t>Appendix A1 - SQL Data Quality Checks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A849928-CBA0-A92C-7C32-162A769A5E3B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F6401F95-40A4-D2BF-15C8-D65BC9569398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Appendix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97C616F4-9945-61C4-3626-BACBED1DB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559" y="1102050"/>
            <a:ext cx="3708000" cy="261772"/>
          </a:xfr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>
            <a:normAutofit/>
          </a:bodyPr>
          <a:lstStyle/>
          <a:p>
            <a:r>
              <a:rPr lang="de-DE" sz="1200" dirty="0"/>
              <a:t>1. </a:t>
            </a:r>
            <a:r>
              <a:rPr lang="de-DE" sz="1200" dirty="0" err="1"/>
              <a:t>Duplicate</a:t>
            </a:r>
            <a:r>
              <a:rPr lang="de-DE" sz="1200" dirty="0"/>
              <a:t> Business Keys</a:t>
            </a:r>
            <a:endParaRPr lang="de-D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BF32007A-6B37-5A9D-5B1E-239EF217152B}"/>
              </a:ext>
            </a:extLst>
          </p:cNvPr>
          <p:cNvSpPr txBox="1">
            <a:spLocks/>
          </p:cNvSpPr>
          <p:nvPr/>
        </p:nvSpPr>
        <p:spPr>
          <a:xfrm>
            <a:off x="6096000" y="1101022"/>
            <a:ext cx="3708000" cy="262800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3. Prior / Train Reconciliation</a:t>
            </a:r>
            <a:endParaRPr lang="de-D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7DCE8A6-1EE3-A7F5-9EE4-E75C7739E886}"/>
              </a:ext>
            </a:extLst>
          </p:cNvPr>
          <p:cNvSpPr txBox="1">
            <a:spLocks/>
          </p:cNvSpPr>
          <p:nvPr/>
        </p:nvSpPr>
        <p:spPr>
          <a:xfrm>
            <a:off x="330559" y="3429000"/>
            <a:ext cx="3708000" cy="262800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/>
              <a:t>2. Orphaned Foreign Keys</a:t>
            </a:r>
            <a:endParaRPr lang="de-D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3F18CA71-4E8E-024C-F5F9-2E70AF75153C}"/>
              </a:ext>
            </a:extLst>
          </p:cNvPr>
          <p:cNvSpPr txBox="1">
            <a:spLocks/>
          </p:cNvSpPr>
          <p:nvPr/>
        </p:nvSpPr>
        <p:spPr>
          <a:xfrm>
            <a:off x="6096000" y="3428999"/>
            <a:ext cx="3708000" cy="262800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/>
              <a:t>4. Order Sequence Integrity</a:t>
            </a:r>
            <a:endParaRPr lang="de-D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41001D35-E417-089B-0166-717771414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11" y="1408889"/>
            <a:ext cx="3779248" cy="197504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C677903-E5EA-AB30-CDC5-66BD8E838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11" y="3782698"/>
            <a:ext cx="3855820" cy="266650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951A494-D7C5-C62D-3B5C-DC82E9A35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34540"/>
            <a:ext cx="2844946" cy="180424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7A21B8C-B14D-77E4-F035-0F81C4F0B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4693" y="1539058"/>
            <a:ext cx="2844946" cy="1530429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F6E3CB05-9B1C-6257-64EE-A6B5C79292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3461" y="3724917"/>
            <a:ext cx="3359323" cy="272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85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ECE5-0CA8-4E10-F7ED-8AE93733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76C392-BB0C-B207-B5E9-ED8D089E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de-DE" sz="2000" b="1" dirty="0">
                <a:ea typeface="Calibri" panose="020F0502020204030204" pitchFamily="34" charset="0"/>
                <a:cs typeface="Calibri" panose="020F0502020204030204" pitchFamily="34" charset="0"/>
              </a:rPr>
              <a:t>Appendix A2 - SQL Customer KPI Layer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5DC105C-B69F-3010-630F-CBD75D7D0FDF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7F5A4CB6-A662-0BFA-E93B-33EAA0F32A53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Appendix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F4F2983E-24A3-9934-7749-AF54BEECB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559" y="1102050"/>
            <a:ext cx="3708000" cy="261772"/>
          </a:xfr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>
            <a:normAutofit/>
          </a:bodyPr>
          <a:lstStyle/>
          <a:p>
            <a:r>
              <a:rPr lang="de-DE" sz="1200" dirty="0"/>
              <a:t>Customer KPI Construction</a:t>
            </a:r>
            <a:endParaRPr lang="de-D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1D50A2A-EDEE-1B63-26A6-9E6A286CD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11" y="1537271"/>
            <a:ext cx="5710324" cy="313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59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43E5-B940-24E4-66DA-6FD884A8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C314C8-E6C7-553B-B3A2-650872E3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de-DE" sz="2000" b="1" dirty="0">
                <a:ea typeface="Calibri" panose="020F0502020204030204" pitchFamily="34" charset="0"/>
                <a:cs typeface="Calibri" panose="020F0502020204030204" pitchFamily="34" charset="0"/>
              </a:rPr>
              <a:t>Appendix A3 - SQL Customer Segmentation </a:t>
            </a:r>
            <a:r>
              <a:rPr lang="de-DE" sz="2000" b="1" dirty="0" err="1">
                <a:ea typeface="Calibri" panose="020F0502020204030204" pitchFamily="34" charset="0"/>
                <a:cs typeface="Calibri" panose="020F0502020204030204" pitchFamily="34" charset="0"/>
              </a:rPr>
              <a:t>Logic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EC54109-EB62-E215-BD28-69C671AF1D21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1155E513-76AB-5C40-2323-A7C114948663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Appendix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F313C177-DEE8-C9A1-B54D-70C2620E5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559" y="1102050"/>
            <a:ext cx="3708000" cy="261772"/>
          </a:xfr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>
            <a:normAutofit/>
          </a:bodyPr>
          <a:lstStyle/>
          <a:p>
            <a:r>
              <a:rPr lang="de-DE" sz="1200" dirty="0"/>
              <a:t>Segmentation </a:t>
            </a:r>
            <a:r>
              <a:rPr lang="de-DE" sz="1200" dirty="0" err="1"/>
              <a:t>Logic</a:t>
            </a:r>
            <a:r>
              <a:rPr lang="de-DE" sz="1200" dirty="0"/>
              <a:t> </a:t>
            </a:r>
            <a:endParaRPr lang="de-D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225B5BE-B999-B27F-704F-8B4D96D59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35" y="1630656"/>
            <a:ext cx="4663307" cy="231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49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2A9F-C0CA-993B-0069-48854C42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B928F-E65C-A619-0E78-AFC45CD9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fr-FR" sz="2000" b="1" dirty="0">
                <a:ea typeface="Calibri" panose="020F0502020204030204" pitchFamily="34" charset="0"/>
                <a:cs typeface="Calibri" panose="020F0502020204030204" pitchFamily="34" charset="0"/>
              </a:rPr>
              <a:t>Appendix A4 - SQL Engagement Classification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C85BA54-F15A-9C6B-5281-DBFF293BACEC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F08A734A-94FF-FC53-9F73-107DF52938BA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Appendix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41916082-9B6B-F09E-1D4D-233482A8B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559" y="1102050"/>
            <a:ext cx="3708000" cy="261772"/>
          </a:xfrm>
          <a:solidFill>
            <a:schemeClr val="tx2">
              <a:lumMod val="10000"/>
              <a:lumOff val="90000"/>
              <a:alpha val="60000"/>
            </a:schemeClr>
          </a:solidFill>
        </p:spPr>
        <p:txBody>
          <a:bodyPr>
            <a:normAutofit/>
          </a:bodyPr>
          <a:lstStyle/>
          <a:p>
            <a:r>
              <a:rPr lang="de-DE" sz="1200" dirty="0"/>
              <a:t>1. </a:t>
            </a:r>
            <a:r>
              <a:rPr lang="de-DE" sz="1200" dirty="0" err="1"/>
              <a:t>Expected</a:t>
            </a:r>
            <a:r>
              <a:rPr lang="de-DE" sz="1200" dirty="0"/>
              <a:t> Order Gap by Segment</a:t>
            </a:r>
            <a:endParaRPr lang="de-D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A713E45-902D-9E76-5CBB-8653DD08F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8" y="1539792"/>
            <a:ext cx="4030021" cy="227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96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F5537-4B60-8136-AF98-45F68164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284B1-633F-6CB8-7080-F9CF4D74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Appendix A5 — Python Validation of SQL Results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5F20336-8B39-C400-1CAE-2BDB78D2504E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08EB3BF6-EBF0-3165-6530-9604B1BBEBA4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Appendix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4FF5953-E669-7EE9-C6AE-096FF9813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9" y="1222416"/>
            <a:ext cx="6058211" cy="451508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994E7CCF-D562-27F1-75CD-AE6F969BB8A2}"/>
              </a:ext>
            </a:extLst>
          </p:cNvPr>
          <p:cNvSpPr txBox="1"/>
          <p:nvPr/>
        </p:nvSpPr>
        <p:spPr>
          <a:xfrm>
            <a:off x="328411" y="1222416"/>
            <a:ext cx="186744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89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5BA92-9DB5-152E-C605-F652AD6E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EB27D-4ACF-9CF9-7EE5-266B82CF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en-US" sz="2000" b="1" dirty="0">
                <a:ea typeface="Calibri" panose="020F0502020204030204" pitchFamily="34" charset="0"/>
                <a:cs typeface="Calibri" panose="020F0502020204030204" pitchFamily="34" charset="0"/>
              </a:rPr>
              <a:t>Appendix A6 — Python Cleaning &amp; Validation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1B65150-EA9C-0D94-4086-894D52F3C9DC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9D4975C6-F300-2358-BE71-A01DB3209C7C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Appendix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E5EFA5C-9687-811C-70CB-C80740E19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1" y="1086791"/>
            <a:ext cx="5151795" cy="565191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AC3BBEE-7A18-3DFA-5E15-D49375F02605}"/>
              </a:ext>
            </a:extLst>
          </p:cNvPr>
          <p:cNvSpPr txBox="1"/>
          <p:nvPr/>
        </p:nvSpPr>
        <p:spPr>
          <a:xfrm>
            <a:off x="373487" y="1120453"/>
            <a:ext cx="122350" cy="20713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4781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CE386-D255-22CB-4BCF-4F01F6BE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862D4-468E-DEA9-567B-9FB0AD2A0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fr-FR" sz="2000" b="1" dirty="0">
                <a:ea typeface="Calibri" panose="020F0502020204030204" pitchFamily="34" charset="0"/>
                <a:cs typeface="Calibri" panose="020F0502020204030204" pitchFamily="34" charset="0"/>
              </a:rPr>
              <a:t>Appendix A7 — Python Final Merge &amp; Export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D1B9A2A-2388-1E0A-64E6-DCAA6153F07D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58E86D62-2E7E-0E04-6237-8CCCD07A7EF7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Appendix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4EE5762-DF41-DEA2-6974-3DD150876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193" y="1222416"/>
            <a:ext cx="6096313" cy="396895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9D4684B-4FF3-4B08-C055-5B52AD446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91" y="1120453"/>
            <a:ext cx="4220383" cy="5512157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5948265-8A56-CD94-4C0D-C9F5082C09A9}"/>
              </a:ext>
            </a:extLst>
          </p:cNvPr>
          <p:cNvSpPr txBox="1"/>
          <p:nvPr/>
        </p:nvSpPr>
        <p:spPr>
          <a:xfrm>
            <a:off x="386365" y="1120453"/>
            <a:ext cx="122350" cy="20713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57E4585-6A23-2FEA-4026-1D6BDE966E20}"/>
              </a:ext>
            </a:extLst>
          </p:cNvPr>
          <p:cNvSpPr txBox="1"/>
          <p:nvPr/>
        </p:nvSpPr>
        <p:spPr>
          <a:xfrm>
            <a:off x="5542208" y="1272853"/>
            <a:ext cx="122350" cy="20713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4723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2EE9-0C89-748B-453B-F989197C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0B8660-5187-AD70-D9BE-373B372C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fr-FR" sz="2000" b="1" dirty="0">
                <a:ea typeface="Calibri" panose="020F0502020204030204" pitchFamily="34" charset="0"/>
                <a:cs typeface="Calibri" panose="020F0502020204030204" pitchFamily="34" charset="0"/>
              </a:rPr>
              <a:t>A8 — Tableau Data Source &amp; Structure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57C7EA4-67F4-A99A-FFF5-E6ADB27D9421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76F2B02C-DE63-21FA-BE5E-3161054B154C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Appendix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C0A5DDD-09E2-0B5D-EC3E-FC8908590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" t="2100" r="1"/>
          <a:stretch>
            <a:fillRect/>
          </a:stretch>
        </p:blipFill>
        <p:spPr>
          <a:xfrm>
            <a:off x="328410" y="1918954"/>
            <a:ext cx="11533031" cy="367047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EAA05B88-C0C7-73E1-77D6-2424434DD751}"/>
              </a:ext>
            </a:extLst>
          </p:cNvPr>
          <p:cNvSpPr txBox="1"/>
          <p:nvPr/>
        </p:nvSpPr>
        <p:spPr>
          <a:xfrm>
            <a:off x="328410" y="1245979"/>
            <a:ext cx="10693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Final Tableau-</a:t>
            </a:r>
            <a:r>
              <a:rPr lang="de-DE" sz="1200" dirty="0" err="1"/>
              <a:t>ready</a:t>
            </a:r>
            <a:r>
              <a:rPr lang="de-DE" sz="1200" dirty="0"/>
              <a:t> </a:t>
            </a:r>
            <a:r>
              <a:rPr lang="de-DE" sz="1200" dirty="0" err="1"/>
              <a:t>extract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one</a:t>
            </a:r>
            <a:r>
              <a:rPr lang="de-DE" sz="1200" dirty="0"/>
              <a:t> </a:t>
            </a:r>
            <a:r>
              <a:rPr lang="de-DE" sz="1200" dirty="0" err="1"/>
              <a:t>row</a:t>
            </a:r>
            <a:r>
              <a:rPr lang="de-DE" sz="1200" dirty="0"/>
              <a:t> per </a:t>
            </a:r>
            <a:r>
              <a:rPr lang="de-DE" sz="1200" dirty="0" err="1"/>
              <a:t>customer</a:t>
            </a:r>
            <a:r>
              <a:rPr lang="de-DE" sz="1200" dirty="0"/>
              <a:t>, </a:t>
            </a:r>
            <a:r>
              <a:rPr lang="de-DE" sz="1200" dirty="0" err="1"/>
              <a:t>combining</a:t>
            </a:r>
            <a:r>
              <a:rPr lang="de-DE" sz="1200" dirty="0"/>
              <a:t> behavioral </a:t>
            </a:r>
            <a:r>
              <a:rPr lang="de-DE" sz="1200" dirty="0" err="1"/>
              <a:t>metrics</a:t>
            </a:r>
            <a:r>
              <a:rPr lang="de-DE" sz="1200" dirty="0"/>
              <a:t>, </a:t>
            </a:r>
            <a:r>
              <a:rPr lang="de-DE" sz="1200" dirty="0" err="1"/>
              <a:t>customer</a:t>
            </a:r>
            <a:r>
              <a:rPr lang="de-DE" sz="1200" dirty="0"/>
              <a:t> </a:t>
            </a:r>
            <a:r>
              <a:rPr lang="de-DE" sz="1200" dirty="0" err="1"/>
              <a:t>segments</a:t>
            </a:r>
            <a:r>
              <a:rPr lang="de-DE" sz="1200" dirty="0"/>
              <a:t>, </a:t>
            </a:r>
            <a:r>
              <a:rPr lang="de-DE" sz="1200" dirty="0" err="1"/>
              <a:t>expected</a:t>
            </a:r>
            <a:r>
              <a:rPr lang="de-DE" sz="1200" dirty="0"/>
              <a:t> </a:t>
            </a:r>
            <a:r>
              <a:rPr lang="de-DE" sz="1200" dirty="0" err="1"/>
              <a:t>ordering</a:t>
            </a:r>
            <a:r>
              <a:rPr lang="de-DE" sz="1200" dirty="0"/>
              <a:t> </a:t>
            </a:r>
            <a:r>
              <a:rPr lang="de-DE" sz="1200" dirty="0" err="1"/>
              <a:t>behavior</a:t>
            </a:r>
            <a:r>
              <a:rPr lang="de-DE" sz="1200" dirty="0"/>
              <a:t>, and </a:t>
            </a:r>
            <a:r>
              <a:rPr lang="de-DE" sz="1200" dirty="0" err="1"/>
              <a:t>engagement</a:t>
            </a:r>
            <a:r>
              <a:rPr lang="de-DE" sz="1200" dirty="0"/>
              <a:t> </a:t>
            </a:r>
            <a:r>
              <a:rPr lang="de-DE" sz="1200" dirty="0" err="1"/>
              <a:t>status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429919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3401A-9CD9-58FC-023C-EA4EEC40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B62F14-89A9-ED55-3D5A-4F569A6C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11" y="416637"/>
            <a:ext cx="11533031" cy="523517"/>
          </a:xfrm>
        </p:spPr>
        <p:txBody>
          <a:bodyPr>
            <a:noAutofit/>
          </a:bodyPr>
          <a:lstStyle/>
          <a:p>
            <a:r>
              <a:rPr lang="de-DE" sz="2000" b="1" dirty="0">
                <a:ea typeface="Calibri" panose="020F0502020204030204" pitchFamily="34" charset="0"/>
                <a:cs typeface="Calibri" panose="020F0502020204030204" pitchFamily="34" charset="0"/>
              </a:rPr>
              <a:t>A9 — Tableau Dashboard &amp; </a:t>
            </a:r>
            <a:r>
              <a:rPr lang="de-DE" sz="2000" b="1" dirty="0" err="1">
                <a:ea typeface="Calibri" panose="020F0502020204030204" pitchFamily="34" charset="0"/>
                <a:cs typeface="Calibri" panose="020F0502020204030204" pitchFamily="34" charset="0"/>
              </a:rPr>
              <a:t>Visualizations</a:t>
            </a:r>
            <a:endParaRPr lang="de-DE" sz="2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70DEF0E-A19C-8B4D-7F18-FBD88DA76A3C}"/>
              </a:ext>
            </a:extLst>
          </p:cNvPr>
          <p:cNvCxnSpPr>
            <a:cxnSpLocks/>
          </p:cNvCxnSpPr>
          <p:nvPr/>
        </p:nvCxnSpPr>
        <p:spPr>
          <a:xfrm>
            <a:off x="328411" y="1030303"/>
            <a:ext cx="11533031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41083479-8815-7F75-5F87-558C4BB78F5E}"/>
              </a:ext>
            </a:extLst>
          </p:cNvPr>
          <p:cNvSpPr/>
          <p:nvPr/>
        </p:nvSpPr>
        <p:spPr>
          <a:xfrm>
            <a:off x="-1" y="0"/>
            <a:ext cx="2880000" cy="27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Appendix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C2C8684-7338-7263-A27E-7B2819937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12" y="1461778"/>
            <a:ext cx="7817476" cy="527165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4A059BF-6420-C42A-DC93-19D2995EF2F6}"/>
              </a:ext>
            </a:extLst>
          </p:cNvPr>
          <p:cNvSpPr txBox="1"/>
          <p:nvPr/>
        </p:nvSpPr>
        <p:spPr>
          <a:xfrm>
            <a:off x="328411" y="1094629"/>
            <a:ext cx="92458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The Tableau </a:t>
            </a:r>
            <a:r>
              <a:rPr lang="de-DE" sz="1200" dirty="0" err="1"/>
              <a:t>dashboard</a:t>
            </a:r>
            <a:r>
              <a:rPr lang="de-DE" sz="1200" dirty="0"/>
              <a:t> </a:t>
            </a:r>
            <a:r>
              <a:rPr lang="de-DE" sz="1200" dirty="0" err="1"/>
              <a:t>visualizes</a:t>
            </a:r>
            <a:r>
              <a:rPr lang="de-DE" sz="1200" dirty="0"/>
              <a:t> </a:t>
            </a:r>
            <a:r>
              <a:rPr lang="de-DE" sz="1200" dirty="0" err="1"/>
              <a:t>customer</a:t>
            </a:r>
            <a:r>
              <a:rPr lang="de-DE" sz="1200" dirty="0"/>
              <a:t> </a:t>
            </a:r>
            <a:r>
              <a:rPr lang="de-DE" sz="1200" dirty="0" err="1"/>
              <a:t>engagement</a:t>
            </a:r>
            <a:r>
              <a:rPr lang="de-DE" sz="1200" dirty="0"/>
              <a:t> </a:t>
            </a:r>
            <a:r>
              <a:rPr lang="de-DE" sz="1200" dirty="0" err="1"/>
              <a:t>risk</a:t>
            </a:r>
            <a:r>
              <a:rPr lang="de-DE" sz="1200" dirty="0"/>
              <a:t> </a:t>
            </a:r>
            <a:r>
              <a:rPr lang="de-DE" sz="1200" dirty="0" err="1"/>
              <a:t>across</a:t>
            </a:r>
            <a:r>
              <a:rPr lang="de-DE" sz="1200" dirty="0"/>
              <a:t> behavioral </a:t>
            </a:r>
            <a:r>
              <a:rPr lang="de-DE" sz="1200" dirty="0" err="1"/>
              <a:t>segments</a:t>
            </a:r>
            <a:r>
              <a:rPr lang="de-DE" sz="1200" dirty="0"/>
              <a:t> and </a:t>
            </a:r>
            <a:r>
              <a:rPr lang="de-DE" sz="1200" dirty="0" err="1"/>
              <a:t>highlights</a:t>
            </a:r>
            <a:r>
              <a:rPr lang="de-DE" sz="1200" dirty="0"/>
              <a:t> </a:t>
            </a:r>
            <a:r>
              <a:rPr lang="de-DE" sz="1200" dirty="0" err="1"/>
              <a:t>where</a:t>
            </a:r>
            <a:r>
              <a:rPr lang="de-DE" sz="1200" dirty="0"/>
              <a:t> </a:t>
            </a:r>
            <a:r>
              <a:rPr lang="de-DE" sz="1200" dirty="0" err="1"/>
              <a:t>engagement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weakening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29873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1906</Words>
  <Application>Microsoft Office PowerPoint</Application>
  <PresentationFormat>Breitbild</PresentationFormat>
  <Paragraphs>384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</vt:lpstr>
      <vt:lpstr>PowerPoint-Präsentation</vt:lpstr>
      <vt:lpstr>PowerPoint-Präsentation</vt:lpstr>
      <vt:lpstr>The analysis uses historical ordering behavior to understand customer segments and changes in engagement</vt:lpstr>
      <vt:lpstr>Six relational tables connect Instacart’s order, product, and category data through unique identifiers to enable customer-level insights</vt:lpstr>
      <vt:lpstr>SQL quality checks confirmed a reliable analytical foundation, while reusable KPIs established the baseline for customer behavior</vt:lpstr>
      <vt:lpstr>Customers show signs of weakening engagement when their ordering frequency slows relative to historical behavior, while basket size adds limited additional insight</vt:lpstr>
      <vt:lpstr>Python validates and prepares the SQL outputs for Tableau, enabling visualization of customer engagement and at-risk segments.</vt:lpstr>
      <vt:lpstr>Targeted, behavior-based rewards can help Instacart address weakening engagement by focusing on customers who are ordering later than expected</vt:lpstr>
      <vt:lpstr>Appendix A1 - SQL Data Quality Checks</vt:lpstr>
      <vt:lpstr>Appendix A2 - SQL Customer KPI Layer</vt:lpstr>
      <vt:lpstr>Appendix A3 - SQL Customer Segmentation Logic</vt:lpstr>
      <vt:lpstr>Appendix A4 - SQL Engagement Classification</vt:lpstr>
      <vt:lpstr>Appendix A5 — Python Validation of SQL Results</vt:lpstr>
      <vt:lpstr>Appendix A6 — Python Cleaning &amp; Validation</vt:lpstr>
      <vt:lpstr>Appendix A7 — Python Final Merge &amp; Export</vt:lpstr>
      <vt:lpstr>A8 — Tableau Data Source &amp; Structure</vt:lpstr>
      <vt:lpstr>A9 — Tableau Dashboard &amp; Visualizations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Elena Sistermann</dc:creator>
  <cp:lastModifiedBy>Elena Sistermann</cp:lastModifiedBy>
  <cp:revision>12</cp:revision>
  <dcterms:created xsi:type="dcterms:W3CDTF">2026-09-19T16:22:52Z</dcterms:created>
  <dcterms:modified xsi:type="dcterms:W3CDTF">2026-09-21T03:17:51Z</dcterms:modified>
</cp:coreProperties>
</file>